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79300" cy="6858000"/>
  <p:notesSz cx="121793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6750" y="1432018"/>
            <a:ext cx="6961813" cy="424510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573368" y="1640276"/>
            <a:ext cx="560070" cy="304800"/>
          </a:xfrm>
          <a:custGeom>
            <a:avLst/>
            <a:gdLst/>
            <a:ahLst/>
            <a:cxnLst/>
            <a:rect l="l" t="t" r="r" b="b"/>
            <a:pathLst>
              <a:path w="560069" h="304800">
                <a:moveTo>
                  <a:pt x="559854" y="304482"/>
                </a:moveTo>
                <a:lnTo>
                  <a:pt x="0" y="304482"/>
                </a:lnTo>
                <a:lnTo>
                  <a:pt x="0" y="0"/>
                </a:lnTo>
                <a:lnTo>
                  <a:pt x="559854" y="0"/>
                </a:lnTo>
                <a:lnTo>
                  <a:pt x="559854" y="3044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573368" y="1640276"/>
            <a:ext cx="560070" cy="304800"/>
          </a:xfrm>
          <a:custGeom>
            <a:avLst/>
            <a:gdLst/>
            <a:ahLst/>
            <a:cxnLst/>
            <a:rect l="l" t="t" r="r" b="b"/>
            <a:pathLst>
              <a:path w="560069" h="304800">
                <a:moveTo>
                  <a:pt x="0" y="0"/>
                </a:moveTo>
                <a:lnTo>
                  <a:pt x="559854" y="0"/>
                </a:lnTo>
                <a:lnTo>
                  <a:pt x="559854" y="304482"/>
                </a:lnTo>
                <a:lnTo>
                  <a:pt x="0" y="304482"/>
                </a:lnTo>
                <a:lnTo>
                  <a:pt x="0" y="0"/>
                </a:lnTo>
                <a:close/>
              </a:path>
            </a:pathLst>
          </a:custGeom>
          <a:ln w="2537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97730" y="292650"/>
            <a:ext cx="7607934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6895" y="3840480"/>
            <a:ext cx="852551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8826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50" b="1">
                <a:latin typeface="Calibri"/>
                <a:cs typeface="Calibri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8826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50" b="1">
                <a:latin typeface="Calibri"/>
                <a:cs typeface="Calibri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8965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2339" y="1577340"/>
            <a:ext cx="5297995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8826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50" b="1">
                <a:latin typeface="Calibri"/>
                <a:cs typeface="Calibri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8826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50" b="1">
                <a:latin typeface="Calibri"/>
                <a:cs typeface="Calibri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8826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50" b="1">
                <a:latin typeface="Calibri"/>
                <a:cs typeface="Calibri"/>
              </a:rPr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8747" y="10750"/>
            <a:ext cx="11241804" cy="131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91483" y="1839578"/>
            <a:ext cx="5085080" cy="298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0962" y="6377940"/>
            <a:ext cx="3897376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8965" y="6377940"/>
            <a:ext cx="2801239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68545" y="6430481"/>
            <a:ext cx="218440" cy="205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8826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50" b="1">
                <a:latin typeface="Calibri"/>
                <a:cs typeface="Calibri"/>
              </a:rPr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0622" y="2205459"/>
            <a:ext cx="10064115" cy="1048385"/>
          </a:xfrm>
          <a:prstGeom prst="rect"/>
        </p:spPr>
        <p:txBody>
          <a:bodyPr wrap="square" lIns="0" tIns="844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dirty="0" sz="3300" spc="-434"/>
              <a:t>DEPARTMENT</a:t>
            </a:r>
            <a:r>
              <a:rPr dirty="0" sz="3300" spc="-150"/>
              <a:t> </a:t>
            </a:r>
            <a:r>
              <a:rPr dirty="0" sz="3300" spc="-415"/>
              <a:t>OF</a:t>
            </a:r>
            <a:r>
              <a:rPr dirty="0" sz="3300" spc="-150"/>
              <a:t> </a:t>
            </a:r>
            <a:r>
              <a:rPr dirty="0" sz="3300" spc="-430"/>
              <a:t>COMPUTER</a:t>
            </a:r>
            <a:r>
              <a:rPr dirty="0" sz="3300" spc="-150"/>
              <a:t> </a:t>
            </a:r>
            <a:r>
              <a:rPr dirty="0" sz="3300" spc="-380"/>
              <a:t>SCIENCE</a:t>
            </a:r>
            <a:r>
              <a:rPr dirty="0" sz="3300" spc="-150"/>
              <a:t> </a:t>
            </a:r>
            <a:r>
              <a:rPr dirty="0" sz="3300" spc="-430"/>
              <a:t>AND</a:t>
            </a:r>
            <a:r>
              <a:rPr dirty="0" sz="3300" spc="-150"/>
              <a:t> </a:t>
            </a:r>
            <a:r>
              <a:rPr dirty="0" sz="3300" spc="-390"/>
              <a:t>ENGINEERING</a:t>
            </a:r>
            <a:endParaRPr sz="3300"/>
          </a:p>
          <a:p>
            <a:pPr algn="ctr" marR="4445">
              <a:lnSpc>
                <a:spcPct val="100000"/>
              </a:lnSpc>
              <a:spcBef>
                <a:spcPts val="459"/>
              </a:spcBef>
            </a:pPr>
            <a:r>
              <a:rPr dirty="0" sz="2550" spc="-260"/>
              <a:t>20CS7503</a:t>
            </a:r>
            <a:r>
              <a:rPr dirty="0" sz="2550" spc="-110"/>
              <a:t> </a:t>
            </a:r>
            <a:r>
              <a:rPr dirty="0" sz="2550" spc="-315"/>
              <a:t>&amp;</a:t>
            </a:r>
            <a:r>
              <a:rPr dirty="0" sz="2550" spc="-114"/>
              <a:t> </a:t>
            </a:r>
            <a:r>
              <a:rPr dirty="0" sz="2550" spc="-280"/>
              <a:t>DESIGN</a:t>
            </a:r>
            <a:r>
              <a:rPr dirty="0" sz="2550" spc="-110"/>
              <a:t> </a:t>
            </a:r>
            <a:r>
              <a:rPr dirty="0" sz="2550" spc="-295"/>
              <a:t>PROJECT</a:t>
            </a:r>
            <a:r>
              <a:rPr dirty="0" sz="2550" spc="-114"/>
              <a:t> </a:t>
            </a:r>
            <a:r>
              <a:rPr dirty="0" sz="2550" spc="-50"/>
              <a:t>3</a:t>
            </a:r>
            <a:endParaRPr sz="2550"/>
          </a:p>
        </p:txBody>
      </p:sp>
      <p:sp>
        <p:nvSpPr>
          <p:cNvPr id="3" name="object 3" descr=""/>
          <p:cNvSpPr txBox="1"/>
          <p:nvPr/>
        </p:nvSpPr>
        <p:spPr>
          <a:xfrm>
            <a:off x="78629" y="3665924"/>
            <a:ext cx="9983470" cy="2490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370070" marR="5080" indent="-2388870">
              <a:lnSpc>
                <a:spcPct val="112599"/>
              </a:lnSpc>
              <a:spcBef>
                <a:spcPts val="90"/>
              </a:spcBef>
            </a:pPr>
            <a:r>
              <a:rPr dirty="0" u="sng" sz="2550" spc="-30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END</a:t>
            </a:r>
            <a:r>
              <a:rPr dirty="0" u="sng" sz="2550" spc="-10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550" spc="-3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SEMESTER</a:t>
            </a:r>
            <a:r>
              <a:rPr dirty="0" u="sng" sz="2550" spc="-1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550" spc="-28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PRACTICAL</a:t>
            </a:r>
            <a:r>
              <a:rPr dirty="0" u="sng" sz="2550" spc="-10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550" spc="-3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EXAMINATION</a:t>
            </a:r>
            <a:r>
              <a:rPr dirty="0" u="sng" sz="2550" spc="-1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550" spc="-15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-</a:t>
            </a:r>
            <a:r>
              <a:rPr dirty="0" u="sng" sz="2550" spc="-10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550" spc="-31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NOV</a:t>
            </a:r>
            <a:r>
              <a:rPr dirty="0" u="sng" sz="2550" spc="-1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550" spc="-13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/</a:t>
            </a:r>
            <a:r>
              <a:rPr dirty="0" u="sng" sz="2550" spc="-10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550" spc="-30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DEC</a:t>
            </a:r>
            <a:r>
              <a:rPr dirty="0" u="sng" sz="2550" spc="-1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550" spc="-19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2025</a:t>
            </a:r>
            <a:r>
              <a:rPr dirty="0" sz="2550" spc="-190" b="1">
                <a:latin typeface="Arial"/>
                <a:cs typeface="Arial"/>
              </a:rPr>
              <a:t> </a:t>
            </a:r>
            <a:r>
              <a:rPr dirty="0" u="sng" sz="2550" spc="-29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REVIEW</a:t>
            </a:r>
            <a:r>
              <a:rPr dirty="0" u="sng" sz="2550" spc="-10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550" spc="-3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PRESENTATION</a:t>
            </a:r>
            <a:endParaRPr sz="2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200" spc="-229" b="1">
                <a:latin typeface="Arial"/>
                <a:cs typeface="Arial"/>
              </a:rPr>
              <a:t>Batch</a:t>
            </a:r>
            <a:r>
              <a:rPr dirty="0" sz="2200" spc="-85" b="1">
                <a:latin typeface="Arial"/>
                <a:cs typeface="Arial"/>
              </a:rPr>
              <a:t> </a:t>
            </a:r>
            <a:r>
              <a:rPr dirty="0" sz="2200" spc="-229" b="1">
                <a:latin typeface="Arial"/>
                <a:cs typeface="Arial"/>
              </a:rPr>
              <a:t>No:</a:t>
            </a:r>
            <a:r>
              <a:rPr dirty="0" sz="2200" spc="-85" b="1">
                <a:latin typeface="Arial"/>
                <a:cs typeface="Arial"/>
              </a:rPr>
              <a:t> </a:t>
            </a:r>
            <a:r>
              <a:rPr dirty="0" sz="2200" spc="-25" b="1">
                <a:latin typeface="Arial"/>
                <a:cs typeface="Arial"/>
              </a:rPr>
              <a:t>12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200" spc="-210" b="1">
                <a:latin typeface="Arial"/>
                <a:cs typeface="Arial"/>
              </a:rPr>
              <a:t>Date:</a:t>
            </a:r>
            <a:r>
              <a:rPr dirty="0" sz="2200" spc="-70" b="1">
                <a:latin typeface="Arial"/>
                <a:cs typeface="Arial"/>
              </a:rPr>
              <a:t> </a:t>
            </a:r>
            <a:r>
              <a:rPr dirty="0" sz="2200" spc="-114" b="1">
                <a:latin typeface="Arial"/>
                <a:cs typeface="Arial"/>
              </a:rPr>
              <a:t>29.11.2025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2200" spc="-95" b="1">
                <a:latin typeface="Arial"/>
                <a:cs typeface="Arial"/>
              </a:rPr>
              <a:t>Session: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03902" y="65263"/>
            <a:ext cx="902573" cy="51110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822" y="0"/>
            <a:ext cx="5343239" cy="1871643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50" b="1">
                <a:latin typeface="Calibri"/>
                <a:cs typeface="Calibri"/>
              </a:rPr>
              <a:t>3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50" b="1">
                <a:latin typeface="Calibri"/>
                <a:cs typeface="Calibri"/>
              </a:rPr>
              <a:t>3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2751" rIns="0" bIns="0" rtlCol="0" vert="horz">
            <a:spAutoFit/>
          </a:bodyPr>
          <a:lstStyle/>
          <a:p>
            <a:pPr marL="564515">
              <a:lnSpc>
                <a:spcPct val="100000"/>
              </a:lnSpc>
              <a:spcBef>
                <a:spcPts val="95"/>
              </a:spcBef>
            </a:pPr>
            <a:r>
              <a:rPr dirty="0" sz="3600" spc="-25">
                <a:latin typeface="Calibri"/>
                <a:cs typeface="Calibri"/>
              </a:rPr>
              <a:t>AI-</a:t>
            </a:r>
            <a:r>
              <a:rPr dirty="0" sz="3600">
                <a:latin typeface="Calibri"/>
                <a:cs typeface="Calibri"/>
              </a:rPr>
              <a:t>POWERED</a:t>
            </a:r>
            <a:r>
              <a:rPr dirty="0" sz="3600" spc="-1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HUMAN</a:t>
            </a:r>
            <a:r>
              <a:rPr dirty="0" sz="3600" spc="-150">
                <a:latin typeface="Calibri"/>
                <a:cs typeface="Calibri"/>
              </a:rPr>
              <a:t> </a:t>
            </a:r>
            <a:r>
              <a:rPr dirty="0" sz="3600" spc="-20">
                <a:latin typeface="Calibri"/>
                <a:cs typeface="Calibri"/>
              </a:rPr>
              <a:t>DEEPFAKE</a:t>
            </a:r>
            <a:r>
              <a:rPr dirty="0" sz="3600" spc="-150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DETECTION</a:t>
            </a:r>
            <a:r>
              <a:rPr dirty="0" sz="3600" spc="-14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SYSTEM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87312" y="3328975"/>
            <a:ext cx="5238750" cy="939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4900"/>
              </a:lnSpc>
              <a:spcBef>
                <a:spcPts val="100"/>
              </a:spcBef>
            </a:pPr>
            <a:r>
              <a:rPr dirty="0" sz="2400" spc="-245" b="1">
                <a:latin typeface="Arial"/>
                <a:cs typeface="Arial"/>
              </a:rPr>
              <a:t>Guide</a:t>
            </a:r>
            <a:r>
              <a:rPr dirty="0" sz="2400" spc="-114" b="1">
                <a:latin typeface="Arial"/>
                <a:cs typeface="Arial"/>
              </a:rPr>
              <a:t> </a:t>
            </a:r>
            <a:r>
              <a:rPr dirty="0" sz="2400" spc="-280" b="1">
                <a:latin typeface="Arial"/>
                <a:cs typeface="Arial"/>
              </a:rPr>
              <a:t>Name:</a:t>
            </a:r>
            <a:r>
              <a:rPr dirty="0" sz="2400" spc="-114" b="1">
                <a:latin typeface="Arial"/>
                <a:cs typeface="Arial"/>
              </a:rPr>
              <a:t> </a:t>
            </a:r>
            <a:r>
              <a:rPr dirty="0" sz="2400" spc="-295" b="1">
                <a:latin typeface="Arial"/>
                <a:cs typeface="Arial"/>
              </a:rPr>
              <a:t>Mr.P.</a:t>
            </a:r>
            <a:r>
              <a:rPr dirty="0" sz="2400" spc="-114" b="1">
                <a:latin typeface="Arial"/>
                <a:cs typeface="Arial"/>
              </a:rPr>
              <a:t> </a:t>
            </a:r>
            <a:r>
              <a:rPr dirty="0" sz="2400" spc="-265" b="1">
                <a:latin typeface="Arial"/>
                <a:cs typeface="Arial"/>
              </a:rPr>
              <a:t>Matheswaran</a:t>
            </a:r>
            <a:r>
              <a:rPr dirty="0" sz="2400" spc="-114" b="1">
                <a:latin typeface="Arial"/>
                <a:cs typeface="Arial"/>
              </a:rPr>
              <a:t> </a:t>
            </a:r>
            <a:r>
              <a:rPr dirty="0" sz="2400" spc="-190" b="1">
                <a:latin typeface="Arial"/>
                <a:cs typeface="Arial"/>
              </a:rPr>
              <a:t>M.E.,(Ph.D) </a:t>
            </a:r>
            <a:r>
              <a:rPr dirty="0" sz="2400" spc="-320" b="1">
                <a:latin typeface="Arial"/>
                <a:cs typeface="Arial"/>
              </a:rPr>
              <a:t>AP</a:t>
            </a:r>
            <a:r>
              <a:rPr dirty="0" sz="2400" spc="-120" b="1">
                <a:latin typeface="Arial"/>
                <a:cs typeface="Arial"/>
              </a:rPr>
              <a:t> </a:t>
            </a:r>
            <a:r>
              <a:rPr dirty="0" sz="2400" spc="-125" b="1">
                <a:latin typeface="Arial"/>
                <a:cs typeface="Arial"/>
              </a:rPr>
              <a:t>/</a:t>
            </a:r>
            <a:r>
              <a:rPr dirty="0" sz="2400" spc="-120" b="1">
                <a:latin typeface="Arial"/>
                <a:cs typeface="Arial"/>
              </a:rPr>
              <a:t> </a:t>
            </a:r>
            <a:r>
              <a:rPr dirty="0" sz="2400" spc="-340" b="1">
                <a:latin typeface="Arial"/>
                <a:cs typeface="Arial"/>
              </a:rPr>
              <a:t>CSE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50647" y="3328975"/>
            <a:ext cx="3162935" cy="1852295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2400" spc="-335" b="1">
                <a:latin typeface="Arial"/>
                <a:cs typeface="Arial"/>
              </a:rPr>
              <a:t>Team</a:t>
            </a:r>
            <a:r>
              <a:rPr dirty="0" sz="2400" spc="-110" b="1">
                <a:latin typeface="Arial"/>
                <a:cs typeface="Arial"/>
              </a:rPr>
              <a:t> </a:t>
            </a:r>
            <a:r>
              <a:rPr dirty="0" sz="2400" spc="-280" b="1">
                <a:latin typeface="Arial"/>
                <a:cs typeface="Arial"/>
              </a:rPr>
              <a:t>Members: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2400" spc="-245" b="1">
                <a:latin typeface="Arial"/>
                <a:cs typeface="Arial"/>
              </a:rPr>
              <a:t>Suvathi</a:t>
            </a:r>
            <a:r>
              <a:rPr dirty="0" sz="2400" spc="-90" b="1">
                <a:latin typeface="Arial"/>
                <a:cs typeface="Arial"/>
              </a:rPr>
              <a:t> </a:t>
            </a:r>
            <a:r>
              <a:rPr dirty="0" sz="2400" spc="-335" b="1">
                <a:latin typeface="Arial"/>
                <a:cs typeface="Arial"/>
              </a:rPr>
              <a:t>R</a:t>
            </a:r>
            <a:r>
              <a:rPr dirty="0" sz="2400" spc="-90" b="1">
                <a:latin typeface="Arial"/>
                <a:cs typeface="Arial"/>
              </a:rPr>
              <a:t> </a:t>
            </a:r>
            <a:r>
              <a:rPr dirty="0" sz="2400" spc="-180" b="1">
                <a:latin typeface="Arial"/>
                <a:cs typeface="Arial"/>
              </a:rPr>
              <a:t>(811722104163)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2400" spc="-275" b="1">
                <a:latin typeface="Arial"/>
                <a:cs typeface="Arial"/>
              </a:rPr>
              <a:t>Varsha</a:t>
            </a:r>
            <a:r>
              <a:rPr dirty="0" sz="2400" spc="-114" b="1">
                <a:latin typeface="Arial"/>
                <a:cs typeface="Arial"/>
              </a:rPr>
              <a:t> </a:t>
            </a:r>
            <a:r>
              <a:rPr dirty="0" sz="2400" spc="-335" b="1">
                <a:latin typeface="Arial"/>
                <a:cs typeface="Arial"/>
              </a:rPr>
              <a:t>RK</a:t>
            </a:r>
            <a:r>
              <a:rPr dirty="0" sz="2400" spc="-110" b="1">
                <a:latin typeface="Arial"/>
                <a:cs typeface="Arial"/>
              </a:rPr>
              <a:t> </a:t>
            </a:r>
            <a:r>
              <a:rPr dirty="0" sz="2400" spc="-235" b="1">
                <a:latin typeface="Arial"/>
                <a:cs typeface="Arial"/>
              </a:rPr>
              <a:t>(811722104173)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2400" spc="-240" b="1">
                <a:latin typeface="Arial"/>
                <a:cs typeface="Arial"/>
              </a:rPr>
              <a:t>Varshita</a:t>
            </a:r>
            <a:r>
              <a:rPr dirty="0" sz="2400" spc="-125" b="1">
                <a:latin typeface="Arial"/>
                <a:cs typeface="Arial"/>
              </a:rPr>
              <a:t> </a:t>
            </a:r>
            <a:r>
              <a:rPr dirty="0" sz="2400" spc="-380" b="1">
                <a:latin typeface="Arial"/>
                <a:cs typeface="Arial"/>
              </a:rPr>
              <a:t>M</a:t>
            </a:r>
            <a:r>
              <a:rPr dirty="0" sz="2400" spc="-120" b="1">
                <a:latin typeface="Arial"/>
                <a:cs typeface="Arial"/>
              </a:rPr>
              <a:t> </a:t>
            </a:r>
            <a:r>
              <a:rPr dirty="0" sz="2400" spc="-235" b="1">
                <a:latin typeface="Arial"/>
                <a:cs typeface="Arial"/>
              </a:rPr>
              <a:t>(811722104176)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-50" b="1">
                <a:latin typeface="Calibri"/>
                <a:cs typeface="Calibri"/>
              </a:rPr>
              <a:t>3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4321" rIns="0" bIns="0" rtlCol="0" vert="horz">
            <a:spAutoFit/>
          </a:bodyPr>
          <a:lstStyle/>
          <a:p>
            <a:pPr marL="2277110">
              <a:lnSpc>
                <a:spcPct val="100000"/>
              </a:lnSpc>
              <a:spcBef>
                <a:spcPts val="95"/>
              </a:spcBef>
            </a:pPr>
            <a:r>
              <a:rPr dirty="0" spc="-530"/>
              <a:t>OBJECTIVE</a:t>
            </a:r>
            <a:r>
              <a:rPr dirty="0" spc="-215"/>
              <a:t> </a:t>
            </a:r>
            <a:r>
              <a:rPr dirty="0" spc="-585"/>
              <a:t>OF</a:t>
            </a:r>
            <a:r>
              <a:rPr dirty="0" spc="-215"/>
              <a:t> </a:t>
            </a:r>
            <a:r>
              <a:rPr dirty="0" spc="-560"/>
              <a:t>THE</a:t>
            </a:r>
            <a:r>
              <a:rPr dirty="0" spc="-215"/>
              <a:t> </a:t>
            </a:r>
            <a:r>
              <a:rPr dirty="0" spc="-575"/>
              <a:t>PROJECT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5956" y="1971885"/>
            <a:ext cx="10349865" cy="3032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890" indent="405130">
              <a:lnSpc>
                <a:spcPct val="150900"/>
              </a:lnSpc>
              <a:spcBef>
                <a:spcPts val="100"/>
              </a:spcBef>
              <a:buAutoNum type="arabicPeriod"/>
              <a:tabLst>
                <a:tab pos="417830" algn="l"/>
                <a:tab pos="937260" algn="l"/>
                <a:tab pos="2237105" algn="l"/>
                <a:tab pos="2575560" algn="l"/>
                <a:tab pos="3732529" algn="l"/>
                <a:tab pos="5022850" algn="l"/>
                <a:tab pos="5466080" algn="l"/>
                <a:tab pos="7698740" algn="l"/>
                <a:tab pos="8427720" algn="l"/>
                <a:tab pos="9613265" algn="l"/>
              </a:tabLst>
            </a:pPr>
            <a:r>
              <a:rPr dirty="0" sz="2400" spc="-25">
                <a:latin typeface="Cambria"/>
                <a:cs typeface="Cambria"/>
              </a:rPr>
              <a:t>To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10">
                <a:latin typeface="Cambria"/>
                <a:cs typeface="Cambria"/>
              </a:rPr>
              <a:t>develop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10">
                <a:latin typeface="Cambria"/>
                <a:cs typeface="Cambria"/>
              </a:rPr>
              <a:t>a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0">
                <a:latin typeface="Cambria"/>
                <a:cs typeface="Cambria"/>
              </a:rPr>
              <a:t>system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25">
                <a:latin typeface="Cambria"/>
                <a:cs typeface="Cambria"/>
              </a:rPr>
              <a:t>capable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5">
                <a:latin typeface="Cambria"/>
                <a:cs typeface="Cambria"/>
              </a:rPr>
              <a:t>of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0">
                <a:latin typeface="Cambria"/>
                <a:cs typeface="Cambria"/>
              </a:rPr>
              <a:t>distinguishing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5">
                <a:latin typeface="Cambria"/>
                <a:cs typeface="Cambria"/>
              </a:rPr>
              <a:t>real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20">
                <a:latin typeface="Cambria"/>
                <a:cs typeface="Cambria"/>
              </a:rPr>
              <a:t>images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40">
                <a:latin typeface="Cambria"/>
                <a:cs typeface="Cambria"/>
              </a:rPr>
              <a:t>from </a:t>
            </a:r>
            <a:r>
              <a:rPr dirty="0" sz="2400" spc="105">
                <a:latin typeface="Cambria"/>
                <a:cs typeface="Cambria"/>
              </a:rPr>
              <a:t>deepfakes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using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50">
                <a:latin typeface="Cambria"/>
                <a:cs typeface="Cambria"/>
              </a:rPr>
              <a:t>AI/ML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techniques.</a:t>
            </a:r>
            <a:endParaRPr sz="24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spcBef>
                <a:spcPts val="2440"/>
              </a:spcBef>
              <a:buAutoNum type="arabicPeriod"/>
              <a:tabLst>
                <a:tab pos="336550" algn="l"/>
              </a:tabLst>
            </a:pPr>
            <a:r>
              <a:rPr dirty="0" sz="2400">
                <a:latin typeface="Cambria"/>
                <a:cs typeface="Cambria"/>
              </a:rPr>
              <a:t>To</a:t>
            </a:r>
            <a:r>
              <a:rPr dirty="0" sz="2400" spc="105">
                <a:latin typeface="Cambria"/>
                <a:cs typeface="Cambria"/>
              </a:rPr>
              <a:t> create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reliable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40">
                <a:latin typeface="Cambria"/>
                <a:cs typeface="Cambria"/>
              </a:rPr>
              <a:t>model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for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detecting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40">
                <a:latin typeface="Cambria"/>
                <a:cs typeface="Cambria"/>
              </a:rPr>
              <a:t>manipulated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images.</a:t>
            </a:r>
            <a:endParaRPr sz="2400">
              <a:latin typeface="Cambria"/>
              <a:cs typeface="Cambria"/>
            </a:endParaRPr>
          </a:p>
          <a:p>
            <a:pPr marL="12700" marR="5080" indent="475615">
              <a:lnSpc>
                <a:spcPct val="150900"/>
              </a:lnSpc>
              <a:spcBef>
                <a:spcPts val="969"/>
              </a:spcBef>
              <a:buAutoNum type="arabicPeriod"/>
              <a:tabLst>
                <a:tab pos="488315" algn="l"/>
                <a:tab pos="1078230" algn="l"/>
                <a:tab pos="2533650" algn="l"/>
                <a:tab pos="3456940" algn="l"/>
                <a:tab pos="4246245" algn="l"/>
                <a:tab pos="5645150" algn="l"/>
                <a:tab pos="6168390" algn="l"/>
                <a:tab pos="7310120" algn="l"/>
                <a:tab pos="8452485" algn="l"/>
                <a:tab pos="9042400" algn="l"/>
              </a:tabLst>
            </a:pPr>
            <a:r>
              <a:rPr dirty="0" sz="2400" spc="-25">
                <a:latin typeface="Cambria"/>
                <a:cs typeface="Cambria"/>
              </a:rPr>
              <a:t>To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40">
                <a:latin typeface="Cambria"/>
                <a:cs typeface="Cambria"/>
              </a:rPr>
              <a:t>enhance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65">
                <a:latin typeface="Cambria"/>
                <a:cs typeface="Cambria"/>
              </a:rPr>
              <a:t>trust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40">
                <a:latin typeface="Cambria"/>
                <a:cs typeface="Cambria"/>
              </a:rPr>
              <a:t>and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0">
                <a:latin typeface="Cambria"/>
                <a:cs typeface="Cambria"/>
              </a:rPr>
              <a:t>security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25">
                <a:latin typeface="Cambria"/>
                <a:cs typeface="Cambria"/>
              </a:rPr>
              <a:t>in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0">
                <a:latin typeface="Cambria"/>
                <a:cs typeface="Cambria"/>
              </a:rPr>
              <a:t>digital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40">
                <a:latin typeface="Cambria"/>
                <a:cs typeface="Cambria"/>
              </a:rPr>
              <a:t>media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5">
                <a:latin typeface="Cambria"/>
                <a:cs typeface="Cambria"/>
              </a:rPr>
              <a:t>by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25">
                <a:latin typeface="Cambria"/>
                <a:cs typeface="Cambria"/>
              </a:rPr>
              <a:t>reducing </a:t>
            </a:r>
            <a:r>
              <a:rPr dirty="0" sz="2400" spc="114">
                <a:latin typeface="Cambria"/>
                <a:cs typeface="Cambria"/>
              </a:rPr>
              <a:t>misinformation</a:t>
            </a:r>
            <a:r>
              <a:rPr dirty="0" sz="2400" spc="114">
                <a:latin typeface="Bahnschrift"/>
                <a:cs typeface="Bahnschrift"/>
              </a:rPr>
              <a:t>.</a:t>
            </a:r>
            <a:endParaRPr sz="2400">
              <a:latin typeface="Bahnschrift"/>
              <a:cs typeface="Bahnschrif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3399" rIns="0" bIns="0" rtlCol="0" vert="horz">
            <a:spAutoFit/>
          </a:bodyPr>
          <a:lstStyle/>
          <a:p>
            <a:pPr marL="3631565">
              <a:lnSpc>
                <a:spcPct val="100000"/>
              </a:lnSpc>
              <a:spcBef>
                <a:spcPts val="95"/>
              </a:spcBef>
            </a:pPr>
            <a:r>
              <a:rPr dirty="0" spc="-550"/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6563" y="1708240"/>
            <a:ext cx="10410190" cy="489712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algn="just" marL="382270" marR="43180" indent="-357505">
              <a:lnSpc>
                <a:spcPct val="145700"/>
              </a:lnSpc>
              <a:spcBef>
                <a:spcPts val="250"/>
              </a:spcBef>
              <a:buSzPct val="116666"/>
              <a:buFont typeface="Arial MT"/>
              <a:buChar char="•"/>
              <a:tabLst>
                <a:tab pos="384175" algn="l"/>
              </a:tabLst>
            </a:pPr>
            <a:r>
              <a:rPr dirty="0" sz="2400" spc="125">
                <a:latin typeface="Cambria"/>
                <a:cs typeface="Cambria"/>
              </a:rPr>
              <a:t>Deepfake</a:t>
            </a:r>
            <a:r>
              <a:rPr dirty="0" sz="2400" spc="540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technology</a:t>
            </a:r>
            <a:r>
              <a:rPr dirty="0" sz="2400" spc="40">
                <a:latin typeface="Cambria"/>
                <a:cs typeface="Cambria"/>
              </a:rPr>
              <a:t>  </a:t>
            </a:r>
            <a:r>
              <a:rPr dirty="0" sz="2400" spc="65">
                <a:latin typeface="Cambria"/>
                <a:cs typeface="Cambria"/>
              </a:rPr>
              <a:t>is</a:t>
            </a:r>
            <a:r>
              <a:rPr dirty="0" sz="2400" spc="585">
                <a:latin typeface="Cambria"/>
                <a:cs typeface="Cambria"/>
              </a:rPr>
              <a:t> </a:t>
            </a:r>
            <a:r>
              <a:rPr dirty="0" sz="2400" spc="135">
                <a:latin typeface="Cambria"/>
                <a:cs typeface="Cambria"/>
              </a:rPr>
              <a:t>one</a:t>
            </a:r>
            <a:r>
              <a:rPr dirty="0" sz="2400" spc="540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of</a:t>
            </a:r>
            <a:r>
              <a:rPr dirty="0" sz="2400" spc="40">
                <a:latin typeface="Cambria"/>
                <a:cs typeface="Cambria"/>
              </a:rPr>
              <a:t>  </a:t>
            </a:r>
            <a:r>
              <a:rPr dirty="0" sz="2400" spc="110">
                <a:latin typeface="Cambria"/>
                <a:cs typeface="Cambria"/>
              </a:rPr>
              <a:t>the</a:t>
            </a:r>
            <a:r>
              <a:rPr dirty="0" sz="2400" spc="580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most</a:t>
            </a:r>
            <a:r>
              <a:rPr dirty="0" sz="2400" spc="40">
                <a:latin typeface="Cambria"/>
                <a:cs typeface="Cambria"/>
              </a:rPr>
              <a:t>  </a:t>
            </a:r>
            <a:r>
              <a:rPr dirty="0" sz="2400" spc="114">
                <a:latin typeface="Cambria"/>
                <a:cs typeface="Cambria"/>
              </a:rPr>
              <a:t>disruptive</a:t>
            </a:r>
            <a:r>
              <a:rPr dirty="0" sz="2400" spc="515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applications</a:t>
            </a:r>
            <a:r>
              <a:rPr dirty="0" sz="2400" spc="40">
                <a:latin typeface="Cambria"/>
                <a:cs typeface="Cambria"/>
              </a:rPr>
              <a:t>  </a:t>
            </a:r>
            <a:r>
              <a:rPr dirty="0" sz="2400" spc="105">
                <a:latin typeface="Cambria"/>
                <a:cs typeface="Cambria"/>
              </a:rPr>
              <a:t>of </a:t>
            </a:r>
            <a:r>
              <a:rPr dirty="0" sz="2400" spc="105">
                <a:latin typeface="Cambria"/>
                <a:cs typeface="Cambria"/>
              </a:rPr>
              <a:t>	</a:t>
            </a:r>
            <a:r>
              <a:rPr dirty="0" sz="2400" spc="110">
                <a:latin typeface="Cambria"/>
                <a:cs typeface="Cambria"/>
              </a:rPr>
              <a:t>artificial</a:t>
            </a:r>
            <a:r>
              <a:rPr dirty="0" sz="2400" spc="315">
                <a:latin typeface="Cambria"/>
                <a:cs typeface="Cambria"/>
              </a:rPr>
              <a:t>   </a:t>
            </a:r>
            <a:r>
              <a:rPr dirty="0" sz="2400" spc="110">
                <a:latin typeface="Cambria"/>
                <a:cs typeface="Cambria"/>
              </a:rPr>
              <a:t>intelligence,</a:t>
            </a:r>
            <a:r>
              <a:rPr dirty="0" sz="2400" spc="305">
                <a:latin typeface="Cambria"/>
                <a:cs typeface="Cambria"/>
              </a:rPr>
              <a:t>   </a:t>
            </a:r>
            <a:r>
              <a:rPr dirty="0" sz="2400" spc="135">
                <a:latin typeface="Cambria"/>
                <a:cs typeface="Cambria"/>
              </a:rPr>
              <a:t>capable</a:t>
            </a:r>
            <a:r>
              <a:rPr dirty="0" sz="2400" spc="335">
                <a:latin typeface="Cambria"/>
                <a:cs typeface="Cambria"/>
              </a:rPr>
              <a:t>   </a:t>
            </a:r>
            <a:r>
              <a:rPr dirty="0" sz="2400" spc="130">
                <a:latin typeface="Cambria"/>
                <a:cs typeface="Cambria"/>
              </a:rPr>
              <a:t>of</a:t>
            </a:r>
            <a:r>
              <a:rPr dirty="0" sz="2400" spc="330">
                <a:latin typeface="Cambria"/>
                <a:cs typeface="Cambria"/>
              </a:rPr>
              <a:t>   </a:t>
            </a:r>
            <a:r>
              <a:rPr dirty="0" sz="2400" spc="120">
                <a:latin typeface="Cambria"/>
                <a:cs typeface="Cambria"/>
              </a:rPr>
              <a:t>generating</a:t>
            </a:r>
            <a:r>
              <a:rPr dirty="0" sz="2400" spc="290">
                <a:latin typeface="Cambria"/>
                <a:cs typeface="Cambria"/>
              </a:rPr>
              <a:t>   </a:t>
            </a:r>
            <a:r>
              <a:rPr dirty="0" sz="2400" spc="135">
                <a:latin typeface="Cambria"/>
                <a:cs typeface="Cambria"/>
              </a:rPr>
              <a:t>highly</a:t>
            </a:r>
            <a:r>
              <a:rPr dirty="0" sz="2400" spc="335">
                <a:latin typeface="Cambria"/>
                <a:cs typeface="Cambria"/>
              </a:rPr>
              <a:t>   </a:t>
            </a:r>
            <a:r>
              <a:rPr dirty="0" sz="2400" spc="90">
                <a:latin typeface="Cambria"/>
                <a:cs typeface="Cambria"/>
              </a:rPr>
              <a:t>realistic </a:t>
            </a:r>
            <a:r>
              <a:rPr dirty="0" sz="2400" spc="90">
                <a:latin typeface="Cambria"/>
                <a:cs typeface="Cambria"/>
              </a:rPr>
              <a:t>	</a:t>
            </a:r>
            <a:r>
              <a:rPr dirty="0" sz="2400" spc="105">
                <a:latin typeface="Cambria"/>
                <a:cs typeface="Cambria"/>
              </a:rPr>
              <a:t>synthetic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images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65">
                <a:latin typeface="Cambria"/>
                <a:cs typeface="Cambria"/>
              </a:rPr>
              <a:t>and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videos.</a:t>
            </a:r>
            <a:endParaRPr sz="2400">
              <a:latin typeface="Cambria"/>
              <a:cs typeface="Cambria"/>
            </a:endParaRPr>
          </a:p>
          <a:p>
            <a:pPr algn="just" marL="382270" marR="38735" indent="-357505">
              <a:lnSpc>
                <a:spcPct val="145700"/>
              </a:lnSpc>
              <a:spcBef>
                <a:spcPts val="225"/>
              </a:spcBef>
              <a:buSzPct val="116666"/>
              <a:buFont typeface="Arial MT"/>
              <a:buChar char="•"/>
              <a:tabLst>
                <a:tab pos="384175" algn="l"/>
              </a:tabLst>
            </a:pPr>
            <a:r>
              <a:rPr dirty="0" sz="2400" spc="110">
                <a:latin typeface="Cambria"/>
                <a:cs typeface="Cambria"/>
              </a:rPr>
              <a:t>Traditional</a:t>
            </a:r>
            <a:r>
              <a:rPr dirty="0" sz="2400" spc="265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methods</a:t>
            </a:r>
            <a:r>
              <a:rPr dirty="0" sz="2400" spc="195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of</a:t>
            </a:r>
            <a:r>
              <a:rPr dirty="0" sz="2400" spc="285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fake</a:t>
            </a:r>
            <a:r>
              <a:rPr dirty="0" sz="2400" spc="30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detection</a:t>
            </a:r>
            <a:r>
              <a:rPr dirty="0" sz="2400" spc="195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are</a:t>
            </a:r>
            <a:r>
              <a:rPr dirty="0" sz="2400" spc="215">
                <a:latin typeface="Cambria"/>
                <a:cs typeface="Cambria"/>
              </a:rPr>
              <a:t> </a:t>
            </a:r>
            <a:r>
              <a:rPr dirty="0" sz="2400" spc="155">
                <a:latin typeface="Cambria"/>
                <a:cs typeface="Cambria"/>
              </a:rPr>
              <a:t>no</a:t>
            </a:r>
            <a:r>
              <a:rPr dirty="0" sz="2400" spc="30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longer</a:t>
            </a:r>
            <a:r>
              <a:rPr dirty="0" sz="2400" spc="27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effective</a:t>
            </a:r>
            <a:r>
              <a:rPr dirty="0" sz="2400" spc="245">
                <a:latin typeface="Cambria"/>
                <a:cs typeface="Cambria"/>
              </a:rPr>
              <a:t> </a:t>
            </a:r>
            <a:r>
              <a:rPr dirty="0" sz="2400" spc="140">
                <a:latin typeface="Cambria"/>
                <a:cs typeface="Cambria"/>
              </a:rPr>
              <a:t>due</a:t>
            </a:r>
            <a:r>
              <a:rPr dirty="0" sz="2400" spc="300">
                <a:latin typeface="Cambria"/>
                <a:cs typeface="Cambria"/>
              </a:rPr>
              <a:t> </a:t>
            </a:r>
            <a:r>
              <a:rPr dirty="0" sz="2400" spc="35">
                <a:latin typeface="Cambria"/>
                <a:cs typeface="Cambria"/>
              </a:rPr>
              <a:t>to </a:t>
            </a:r>
            <a:r>
              <a:rPr dirty="0" sz="2400" spc="35">
                <a:latin typeface="Cambria"/>
                <a:cs typeface="Cambria"/>
              </a:rPr>
              <a:t>	</a:t>
            </a:r>
            <a:r>
              <a:rPr dirty="0" sz="2400" spc="105">
                <a:latin typeface="Cambria"/>
                <a:cs typeface="Cambria"/>
              </a:rPr>
              <a:t>the</a:t>
            </a:r>
            <a:r>
              <a:rPr dirty="0" sz="2400" spc="280">
                <a:latin typeface="Cambria"/>
                <a:cs typeface="Cambria"/>
              </a:rPr>
              <a:t>  </a:t>
            </a:r>
            <a:r>
              <a:rPr dirty="0" sz="2400" spc="100">
                <a:latin typeface="Cambria"/>
                <a:cs typeface="Cambria"/>
              </a:rPr>
              <a:t>sophistication</a:t>
            </a:r>
            <a:r>
              <a:rPr dirty="0" sz="2400" spc="295">
                <a:latin typeface="Cambria"/>
                <a:cs typeface="Cambria"/>
              </a:rPr>
              <a:t>  </a:t>
            </a:r>
            <a:r>
              <a:rPr dirty="0" sz="2400" spc="130">
                <a:latin typeface="Cambria"/>
                <a:cs typeface="Cambria"/>
              </a:rPr>
              <a:t>of</a:t>
            </a:r>
            <a:r>
              <a:rPr dirty="0" sz="2400" spc="265">
                <a:latin typeface="Cambria"/>
                <a:cs typeface="Cambria"/>
              </a:rPr>
              <a:t>  </a:t>
            </a:r>
            <a:r>
              <a:rPr dirty="0" sz="2400" spc="145">
                <a:latin typeface="Cambria"/>
                <a:cs typeface="Cambria"/>
              </a:rPr>
              <a:t>modern</a:t>
            </a:r>
            <a:r>
              <a:rPr dirty="0" sz="2400" spc="300">
                <a:latin typeface="Cambria"/>
                <a:cs typeface="Cambria"/>
              </a:rPr>
              <a:t>  </a:t>
            </a:r>
            <a:r>
              <a:rPr dirty="0" sz="2400" spc="145">
                <a:latin typeface="Cambria"/>
                <a:cs typeface="Cambria"/>
              </a:rPr>
              <a:t>AI</a:t>
            </a:r>
            <a:r>
              <a:rPr dirty="0" sz="2400" spc="300">
                <a:latin typeface="Cambria"/>
                <a:cs typeface="Cambria"/>
              </a:rPr>
              <a:t>  </a:t>
            </a:r>
            <a:r>
              <a:rPr dirty="0" sz="2400" spc="120">
                <a:latin typeface="Cambria"/>
                <a:cs typeface="Cambria"/>
              </a:rPr>
              <a:t>models</a:t>
            </a:r>
            <a:r>
              <a:rPr dirty="0" sz="2400" spc="240">
                <a:latin typeface="Cambria"/>
                <a:cs typeface="Cambria"/>
              </a:rPr>
              <a:t>  </a:t>
            </a:r>
            <a:r>
              <a:rPr dirty="0" sz="2400" spc="95">
                <a:latin typeface="Cambria"/>
                <a:cs typeface="Cambria"/>
              </a:rPr>
              <a:t>like</a:t>
            </a:r>
            <a:r>
              <a:rPr dirty="0" sz="2400" spc="295">
                <a:latin typeface="Cambria"/>
                <a:cs typeface="Cambria"/>
              </a:rPr>
              <a:t>  </a:t>
            </a:r>
            <a:r>
              <a:rPr dirty="0" sz="2400" spc="155">
                <a:latin typeface="Cambria"/>
                <a:cs typeface="Cambria"/>
              </a:rPr>
              <a:t>GANs</a:t>
            </a:r>
            <a:r>
              <a:rPr dirty="0" sz="2400" spc="300">
                <a:latin typeface="Cambria"/>
                <a:cs typeface="Cambria"/>
              </a:rPr>
              <a:t>  </a:t>
            </a:r>
            <a:r>
              <a:rPr dirty="0" sz="2400" spc="95">
                <a:latin typeface="Cambria"/>
                <a:cs typeface="Cambria"/>
              </a:rPr>
              <a:t>(Generative </a:t>
            </a:r>
            <a:r>
              <a:rPr dirty="0" sz="2400" spc="95">
                <a:latin typeface="Cambria"/>
                <a:cs typeface="Cambria"/>
              </a:rPr>
              <a:t>	</a:t>
            </a:r>
            <a:r>
              <a:rPr dirty="0" sz="2400" spc="125">
                <a:latin typeface="Cambria"/>
                <a:cs typeface="Cambria"/>
              </a:rPr>
              <a:t>Adversarial</a:t>
            </a:r>
            <a:r>
              <a:rPr dirty="0" sz="2400" spc="9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Networks).</a:t>
            </a:r>
            <a:endParaRPr sz="2400">
              <a:latin typeface="Cambria"/>
              <a:cs typeface="Cambria"/>
            </a:endParaRPr>
          </a:p>
          <a:p>
            <a:pPr algn="just" marL="382270" marR="40640" indent="-357505">
              <a:lnSpc>
                <a:spcPct val="145700"/>
              </a:lnSpc>
              <a:spcBef>
                <a:spcPts val="220"/>
              </a:spcBef>
              <a:buSzPct val="116666"/>
              <a:buFont typeface="Arial MT"/>
              <a:buChar char="•"/>
              <a:tabLst>
                <a:tab pos="384175" algn="l"/>
                <a:tab pos="10270490" algn="l"/>
              </a:tabLst>
            </a:pPr>
            <a:r>
              <a:rPr dirty="0" sz="2400" spc="175">
                <a:latin typeface="Cambria"/>
                <a:cs typeface="Cambria"/>
              </a:rPr>
              <a:t>Our</a:t>
            </a:r>
            <a:r>
              <a:rPr dirty="0" sz="2400" spc="47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project</a:t>
            </a:r>
            <a:r>
              <a:rPr dirty="0" sz="2400" spc="415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is</a:t>
            </a:r>
            <a:r>
              <a:rPr dirty="0" sz="2400" spc="355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designed</a:t>
            </a:r>
            <a:r>
              <a:rPr dirty="0" sz="2400" spc="480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to</a:t>
            </a:r>
            <a:r>
              <a:rPr dirty="0" sz="2400" spc="430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address</a:t>
            </a:r>
            <a:r>
              <a:rPr dirty="0" sz="2400" spc="45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this</a:t>
            </a:r>
            <a:r>
              <a:rPr dirty="0" sz="2400" spc="390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challenge</a:t>
            </a:r>
            <a:r>
              <a:rPr dirty="0" sz="2400" spc="40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by</a:t>
            </a:r>
            <a:r>
              <a:rPr dirty="0" sz="2400" spc="480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applying</a:t>
            </a:r>
            <a:r>
              <a:rPr dirty="0" sz="2400" spc="45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deep </a:t>
            </a:r>
            <a:r>
              <a:rPr dirty="0" sz="2400" spc="90">
                <a:latin typeface="Cambria"/>
                <a:cs typeface="Cambria"/>
              </a:rPr>
              <a:t>	</a:t>
            </a:r>
            <a:r>
              <a:rPr dirty="0" sz="2400" spc="130">
                <a:latin typeface="Cambria"/>
                <a:cs typeface="Cambria"/>
              </a:rPr>
              <a:t>learning,</a:t>
            </a:r>
            <a:r>
              <a:rPr dirty="0" sz="2400" spc="310">
                <a:latin typeface="Cambria"/>
                <a:cs typeface="Cambria"/>
              </a:rPr>
              <a:t>  </a:t>
            </a:r>
            <a:r>
              <a:rPr dirty="0" sz="2400" spc="150">
                <a:latin typeface="Cambria"/>
                <a:cs typeface="Cambria"/>
              </a:rPr>
              <a:t>CNN</a:t>
            </a:r>
            <a:r>
              <a:rPr dirty="0" sz="2400" spc="330">
                <a:latin typeface="Cambria"/>
                <a:cs typeface="Cambria"/>
              </a:rPr>
              <a:t>  </a:t>
            </a:r>
            <a:r>
              <a:rPr dirty="0" sz="2400" spc="165">
                <a:latin typeface="Cambria"/>
                <a:cs typeface="Cambria"/>
              </a:rPr>
              <a:t>and</a:t>
            </a:r>
            <a:r>
              <a:rPr dirty="0" sz="2400" spc="335">
                <a:latin typeface="Cambria"/>
                <a:cs typeface="Cambria"/>
              </a:rPr>
              <a:t>  </a:t>
            </a:r>
            <a:r>
              <a:rPr dirty="0" sz="2400" spc="125">
                <a:latin typeface="Cambria"/>
                <a:cs typeface="Cambria"/>
              </a:rPr>
              <a:t>feature</a:t>
            </a:r>
            <a:r>
              <a:rPr dirty="0" sz="2400" spc="315">
                <a:latin typeface="Cambria"/>
                <a:cs typeface="Cambria"/>
              </a:rPr>
              <a:t>  </a:t>
            </a:r>
            <a:r>
              <a:rPr dirty="0" sz="2400" spc="110">
                <a:latin typeface="Cambria"/>
                <a:cs typeface="Cambria"/>
              </a:rPr>
              <a:t>extraction</a:t>
            </a:r>
            <a:r>
              <a:rPr dirty="0" sz="2400" spc="320">
                <a:latin typeface="Cambria"/>
                <a:cs typeface="Cambria"/>
              </a:rPr>
              <a:t>  </a:t>
            </a:r>
            <a:r>
              <a:rPr dirty="0" sz="2400" spc="114">
                <a:latin typeface="Cambria"/>
                <a:cs typeface="Cambria"/>
              </a:rPr>
              <a:t>methods</a:t>
            </a:r>
            <a:r>
              <a:rPr dirty="0" sz="2400" spc="330">
                <a:latin typeface="Cambria"/>
                <a:cs typeface="Cambria"/>
              </a:rPr>
              <a:t>  </a:t>
            </a:r>
            <a:r>
              <a:rPr dirty="0" sz="2400" spc="60">
                <a:latin typeface="Cambria"/>
                <a:cs typeface="Cambria"/>
              </a:rPr>
              <a:t>to</a:t>
            </a:r>
            <a:r>
              <a:rPr dirty="0" sz="2400" spc="280">
                <a:latin typeface="Cambria"/>
                <a:cs typeface="Cambria"/>
              </a:rPr>
              <a:t>  </a:t>
            </a:r>
            <a:r>
              <a:rPr dirty="0" sz="2400" spc="145">
                <a:latin typeface="Cambria"/>
                <a:cs typeface="Cambria"/>
              </a:rPr>
              <a:t>analyze</a:t>
            </a:r>
            <a:r>
              <a:rPr dirty="0" sz="2400" spc="335">
                <a:latin typeface="Cambria"/>
                <a:cs typeface="Cambria"/>
              </a:rPr>
              <a:t>  </a:t>
            </a:r>
            <a:r>
              <a:rPr dirty="0" sz="2400" spc="140">
                <a:latin typeface="Cambria"/>
                <a:cs typeface="Cambria"/>
              </a:rPr>
              <a:t>and </a:t>
            </a:r>
            <a:r>
              <a:rPr dirty="0" sz="2400" spc="140">
                <a:latin typeface="Cambria"/>
                <a:cs typeface="Cambria"/>
              </a:rPr>
              <a:t>	</a:t>
            </a:r>
            <a:r>
              <a:rPr dirty="0" sz="2400" spc="100">
                <a:latin typeface="Cambria"/>
                <a:cs typeface="Cambria"/>
              </a:rPr>
              <a:t>classify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digital</a:t>
            </a:r>
            <a:r>
              <a:rPr dirty="0" sz="2400" spc="110">
                <a:latin typeface="Cambria"/>
                <a:cs typeface="Cambria"/>
              </a:rPr>
              <a:t> content </a:t>
            </a:r>
            <a:r>
              <a:rPr dirty="0" sz="2400" spc="95">
                <a:latin typeface="Cambria"/>
                <a:cs typeface="Cambria"/>
              </a:rPr>
              <a:t>as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real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or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fake.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baseline="-18518" sz="1800" spc="-75" b="1">
                <a:latin typeface="Calibri"/>
                <a:cs typeface="Calibri"/>
              </a:rPr>
              <a:t>4</a:t>
            </a:r>
            <a:endParaRPr baseline="-18518"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157365" y="6470253"/>
            <a:ext cx="7747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40"/>
              </a:lnSpc>
            </a:pPr>
            <a:r>
              <a:rPr dirty="0" sz="1200" spc="-60" b="1"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67808" y="10750"/>
            <a:ext cx="444944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495"/>
              <a:t>LITERATURE</a:t>
            </a:r>
            <a:r>
              <a:rPr dirty="0" sz="4000" spc="-165"/>
              <a:t> </a:t>
            </a:r>
            <a:r>
              <a:rPr dirty="0" sz="4000" spc="-525"/>
              <a:t>SURVEY</a:t>
            </a:r>
            <a:endParaRPr sz="4000"/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62428" y="700919"/>
          <a:ext cx="12131040" cy="6149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1395"/>
                <a:gridCol w="2780029"/>
                <a:gridCol w="3703954"/>
                <a:gridCol w="2017395"/>
              </a:tblGrid>
              <a:tr h="814069">
                <a:tc>
                  <a:txBody>
                    <a:bodyPr/>
                    <a:lstStyle/>
                    <a:p>
                      <a:pPr marL="75692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spc="-240" b="1">
                          <a:latin typeface="Arial"/>
                          <a:cs typeface="Arial"/>
                        </a:rPr>
                        <a:t>TITLE</a:t>
                      </a:r>
                      <a:r>
                        <a:rPr dirty="0" sz="24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300" b="1"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2400" spc="-1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355" b="1">
                          <a:latin typeface="Arial"/>
                          <a:cs typeface="Arial"/>
                        </a:rPr>
                        <a:t>PAPER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spc="-295" b="1">
                          <a:latin typeface="Arial"/>
                          <a:cs typeface="Arial"/>
                        </a:rPr>
                        <a:t>AUTHOR(S)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1093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2400" spc="-345" b="1">
                          <a:latin typeface="Arial"/>
                          <a:cs typeface="Arial"/>
                        </a:rPr>
                        <a:t>PAPER</a:t>
                      </a:r>
                      <a:r>
                        <a:rPr dirty="0" sz="2400" spc="-1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400" spc="-275" b="1">
                          <a:latin typeface="Arial"/>
                          <a:cs typeface="Arial"/>
                        </a:rPr>
                        <a:t>GIST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693420" marR="127635" indent="-574040">
                        <a:lnSpc>
                          <a:spcPts val="2850"/>
                        </a:lnSpc>
                        <a:spcBef>
                          <a:spcPts val="400"/>
                        </a:spcBef>
                      </a:pPr>
                      <a:r>
                        <a:rPr dirty="0" sz="2400" spc="-335" b="1">
                          <a:latin typeface="Arial"/>
                          <a:cs typeface="Arial"/>
                        </a:rPr>
                        <a:t>TECHNOLOGY </a:t>
                      </a:r>
                      <a:r>
                        <a:rPr dirty="0" sz="2400" spc="-340" b="1">
                          <a:latin typeface="Arial"/>
                          <a:cs typeface="Arial"/>
                        </a:rPr>
                        <a:t>USED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</a:tr>
              <a:tr h="1195070">
                <a:tc>
                  <a:txBody>
                    <a:bodyPr/>
                    <a:lstStyle/>
                    <a:p>
                      <a:pPr algn="ctr" marL="471805" marR="478790" indent="63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135">
                          <a:latin typeface="Cambria"/>
                          <a:cs typeface="Cambria"/>
                        </a:rPr>
                        <a:t>A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0">
                          <a:latin typeface="Cambria"/>
                          <a:cs typeface="Cambria"/>
                        </a:rPr>
                        <a:t>Survey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4">
                          <a:latin typeface="Cambria"/>
                          <a:cs typeface="Cambria"/>
                        </a:rPr>
                        <a:t>on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Deepfake 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Detection</a:t>
                      </a:r>
                      <a:r>
                        <a:rPr dirty="0" sz="1800" spc="95">
                          <a:latin typeface="Cambria"/>
                          <a:cs typeface="Cambria"/>
                        </a:rPr>
                        <a:t> through</a:t>
                      </a:r>
                      <a:r>
                        <a:rPr dirty="0" sz="1800" spc="1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Deep </a:t>
                      </a:r>
                      <a:r>
                        <a:rPr dirty="0" sz="1800" spc="110">
                          <a:latin typeface="Cambria"/>
                          <a:cs typeface="Cambria"/>
                        </a:rPr>
                        <a:t>Learning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-10">
                          <a:latin typeface="Cambria"/>
                          <a:cs typeface="Cambria"/>
                        </a:rPr>
                        <a:t>(2024)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D"/>
                    </a:solidFill>
                  </a:tcPr>
                </a:tc>
                <a:tc>
                  <a:txBody>
                    <a:bodyPr/>
                    <a:lstStyle/>
                    <a:p>
                      <a:pPr algn="just" marL="271780" marR="274320" indent="15176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>
                          <a:latin typeface="Cambria"/>
                          <a:cs typeface="Cambria"/>
                        </a:rPr>
                        <a:t>P.</a:t>
                      </a:r>
                      <a:r>
                        <a:rPr dirty="0" sz="1800" spc="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latin typeface="Cambria"/>
                          <a:cs typeface="Cambria"/>
                        </a:rPr>
                        <a:t>Kamakshi</a:t>
                      </a:r>
                      <a:r>
                        <a:rPr dirty="0" sz="1800" spc="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Thai, 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Sathvik</a:t>
                      </a:r>
                      <a:r>
                        <a:rPr dirty="0" sz="1800" spc="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Kalige,</a:t>
                      </a:r>
                      <a:r>
                        <a:rPr dirty="0" sz="1800" spc="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Sai </a:t>
                      </a:r>
                      <a:r>
                        <a:rPr dirty="0" sz="1800" spc="95">
                          <a:latin typeface="Cambria"/>
                          <a:cs typeface="Cambria"/>
                        </a:rPr>
                        <a:t>Nikhil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Ediga,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Lokesh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842644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800" spc="85">
                          <a:latin typeface="Cambria"/>
                          <a:cs typeface="Cambria"/>
                        </a:rPr>
                        <a:t>Chougoni.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8430" marR="138430" indent="889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65">
                          <a:latin typeface="Cambria"/>
                          <a:cs typeface="Cambria"/>
                        </a:rPr>
                        <a:t>Discusses</a:t>
                      </a:r>
                      <a:r>
                        <a:rPr dirty="0" sz="1800" spc="1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various</a:t>
                      </a:r>
                      <a:r>
                        <a:rPr dirty="0" sz="1800" spc="1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deep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learning-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based </a:t>
                      </a:r>
                      <a:r>
                        <a:rPr dirty="0" sz="1800" spc="95">
                          <a:latin typeface="Cambria"/>
                          <a:cs typeface="Cambria"/>
                        </a:rPr>
                        <a:t>approaches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5">
                          <a:latin typeface="Cambria"/>
                          <a:cs typeface="Cambria"/>
                        </a:rPr>
                        <a:t>and 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future research</a:t>
                      </a:r>
                      <a:r>
                        <a:rPr dirty="0" sz="1800" spc="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challenges.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9405" marR="32258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CNNs, 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RNNs,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GAN-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800" spc="75">
                          <a:latin typeface="Cambria"/>
                          <a:cs typeface="Cambria"/>
                        </a:rPr>
                        <a:t>Fingerprinting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D"/>
                    </a:solidFill>
                  </a:tcPr>
                </a:tc>
              </a:tr>
              <a:tr h="1019810">
                <a:tc>
                  <a:txBody>
                    <a:bodyPr/>
                    <a:lstStyle/>
                    <a:p>
                      <a:pPr algn="ctr" marL="271780" marR="27241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95">
                          <a:latin typeface="Cambria"/>
                          <a:cs typeface="Cambria"/>
                        </a:rPr>
                        <a:t>Analysing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the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5">
                          <a:latin typeface="Cambria"/>
                          <a:cs typeface="Cambria"/>
                        </a:rPr>
                        <a:t>Landscape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of </a:t>
                      </a:r>
                      <a:r>
                        <a:rPr dirty="0" sz="1800" spc="95">
                          <a:latin typeface="Cambria"/>
                          <a:cs typeface="Cambria"/>
                        </a:rPr>
                        <a:t>Deep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Fake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Detection: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A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800" spc="100">
                          <a:latin typeface="Cambria"/>
                          <a:cs typeface="Cambria"/>
                        </a:rPr>
                        <a:t>Survey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-10">
                          <a:latin typeface="Cambria"/>
                          <a:cs typeface="Cambria"/>
                        </a:rPr>
                        <a:t>(2024)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481330" marR="280670" indent="-20002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K.</a:t>
                      </a:r>
                      <a:r>
                        <a:rPr dirty="0" sz="18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Vyas,</a:t>
                      </a:r>
                      <a:r>
                        <a:rPr dirty="0" sz="180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>
                          <a:latin typeface="Cambria"/>
                          <a:cs typeface="Cambria"/>
                        </a:rPr>
                        <a:t>P.</a:t>
                      </a:r>
                      <a:r>
                        <a:rPr dirty="0" sz="1800" spc="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Pareek,</a:t>
                      </a:r>
                      <a:r>
                        <a:rPr dirty="0" sz="1800" spc="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35">
                          <a:latin typeface="Cambria"/>
                          <a:cs typeface="Cambria"/>
                        </a:rPr>
                        <a:t>R. 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Jayaswal,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S.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50">
                          <a:latin typeface="Cambria"/>
                          <a:cs typeface="Cambria"/>
                        </a:rPr>
                        <a:t>Patil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05104" marR="198755" indent="-444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75">
                          <a:latin typeface="Cambria"/>
                          <a:cs typeface="Cambria"/>
                        </a:rPr>
                        <a:t>Categorizes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 existing </a:t>
                      </a:r>
                      <a:r>
                        <a:rPr dirty="0" sz="1800" spc="65">
                          <a:latin typeface="Cambria"/>
                          <a:cs typeface="Cambria"/>
                        </a:rPr>
                        <a:t>detection 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techniques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0">
                          <a:latin typeface="Cambria"/>
                          <a:cs typeface="Cambria"/>
                        </a:rPr>
                        <a:t>and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identifies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60">
                          <a:latin typeface="Cambria"/>
                          <a:cs typeface="Cambria"/>
                        </a:rPr>
                        <a:t>gaps </a:t>
                      </a:r>
                      <a:r>
                        <a:rPr dirty="0" sz="1800" spc="110">
                          <a:latin typeface="Cambria"/>
                          <a:cs typeface="Cambria"/>
                        </a:rPr>
                        <a:t>in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60">
                          <a:latin typeface="Cambria"/>
                          <a:cs typeface="Cambria"/>
                        </a:rPr>
                        <a:t>real-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time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performance.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3289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25">
                          <a:latin typeface="Cambria"/>
                          <a:cs typeface="Cambria"/>
                        </a:rPr>
                        <a:t>CNN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>
                          <a:latin typeface="Cambria"/>
                          <a:cs typeface="Cambria"/>
                        </a:rPr>
                        <a:t>+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LSTM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19558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1800" spc="105">
                          <a:latin typeface="Cambria"/>
                          <a:cs typeface="Cambria"/>
                        </a:rPr>
                        <a:t>Hybrid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Models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</a:tr>
              <a:tr h="1195070">
                <a:tc>
                  <a:txBody>
                    <a:bodyPr/>
                    <a:lstStyle/>
                    <a:p>
                      <a:pPr algn="ctr" marL="167005" marR="162560" indent="-63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135">
                          <a:latin typeface="Cambria"/>
                          <a:cs typeface="Cambria"/>
                        </a:rPr>
                        <a:t>A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5">
                          <a:latin typeface="Cambria"/>
                          <a:cs typeface="Cambria"/>
                        </a:rPr>
                        <a:t>Contemporary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0">
                          <a:latin typeface="Cambria"/>
                          <a:cs typeface="Cambria"/>
                        </a:rPr>
                        <a:t>Survey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on Deepfake 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Detection:</a:t>
                      </a:r>
                      <a:r>
                        <a:rPr dirty="0" sz="1800" spc="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55">
                          <a:latin typeface="Cambria"/>
                          <a:cs typeface="Cambria"/>
                        </a:rPr>
                        <a:t>Datasets, 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Algorithms,</a:t>
                      </a:r>
                      <a:r>
                        <a:rPr dirty="0" sz="1800" spc="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0">
                          <a:latin typeface="Cambria"/>
                          <a:cs typeface="Cambria"/>
                        </a:rPr>
                        <a:t>and</a:t>
                      </a:r>
                      <a:r>
                        <a:rPr dirty="0" sz="1800" spc="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Challenges </a:t>
                      </a:r>
                      <a:r>
                        <a:rPr dirty="0" sz="1800" spc="-10">
                          <a:latin typeface="Cambria"/>
                          <a:cs typeface="Cambria"/>
                        </a:rPr>
                        <a:t>(2024)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D"/>
                    </a:solidFill>
                  </a:tcPr>
                </a:tc>
                <a:tc>
                  <a:txBody>
                    <a:bodyPr/>
                    <a:lstStyle/>
                    <a:p>
                      <a:pPr marL="1061720" marR="323215" indent="-73279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Liang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latin typeface="Cambria"/>
                          <a:cs typeface="Cambria"/>
                        </a:rPr>
                        <a:t>Yu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5">
                          <a:latin typeface="Cambria"/>
                          <a:cs typeface="Cambria"/>
                        </a:rPr>
                        <a:t>Gong,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0">
                          <a:latin typeface="Cambria"/>
                          <a:cs typeface="Cambria"/>
                        </a:rPr>
                        <a:t>Xue </a:t>
                      </a:r>
                      <a:r>
                        <a:rPr dirty="0" sz="1800" spc="125">
                          <a:latin typeface="Cambria"/>
                          <a:cs typeface="Cambria"/>
                        </a:rPr>
                        <a:t>Jun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Li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7955" marR="13271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85">
                          <a:latin typeface="Cambria"/>
                          <a:cs typeface="Cambria"/>
                        </a:rPr>
                        <a:t>Highlights </a:t>
                      </a:r>
                      <a:r>
                        <a:rPr dirty="0" sz="1800" spc="65">
                          <a:latin typeface="Cambria"/>
                          <a:cs typeface="Cambria"/>
                        </a:rPr>
                        <a:t>datasets,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algorithms, </a:t>
                      </a:r>
                      <a:r>
                        <a:rPr dirty="0" sz="1800" spc="120">
                          <a:latin typeface="Cambria"/>
                          <a:cs typeface="Cambria"/>
                        </a:rPr>
                        <a:t>and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65">
                          <a:latin typeface="Cambria"/>
                          <a:cs typeface="Cambria"/>
                        </a:rPr>
                        <a:t>issues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0">
                          <a:latin typeface="Cambria"/>
                          <a:cs typeface="Cambria"/>
                        </a:rPr>
                        <a:t>in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 model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algn="ctr" marL="386080" marR="370840">
                        <a:lnSpc>
                          <a:spcPct val="100600"/>
                        </a:lnSpc>
                      </a:pPr>
                      <a:r>
                        <a:rPr dirty="0" sz="1800" spc="85">
                          <a:latin typeface="Cambria"/>
                          <a:cs typeface="Cambria"/>
                        </a:rPr>
                        <a:t>generalization</a:t>
                      </a:r>
                      <a:r>
                        <a:rPr dirty="0" sz="1800" spc="10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0">
                          <a:latin typeface="Cambria"/>
                          <a:cs typeface="Cambria"/>
                        </a:rPr>
                        <a:t>and</a:t>
                      </a:r>
                      <a:r>
                        <a:rPr dirty="0" sz="1800" spc="105">
                          <a:latin typeface="Cambria"/>
                          <a:cs typeface="Cambria"/>
                        </a:rPr>
                        <a:t> domain </a:t>
                      </a:r>
                      <a:r>
                        <a:rPr dirty="0" sz="1800" spc="60">
                          <a:latin typeface="Cambria"/>
                          <a:cs typeface="Cambria"/>
                        </a:rPr>
                        <a:t>shift.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D"/>
                    </a:solidFill>
                  </a:tcPr>
                </a:tc>
                <a:tc>
                  <a:txBody>
                    <a:bodyPr/>
                    <a:lstStyle/>
                    <a:p>
                      <a:pPr marL="252729" marR="261620" indent="5651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CNNs, 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Vision Transformers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D"/>
                    </a:solidFill>
                  </a:tcPr>
                </a:tc>
              </a:tr>
              <a:tr h="1195070">
                <a:tc>
                  <a:txBody>
                    <a:bodyPr/>
                    <a:lstStyle/>
                    <a:p>
                      <a:pPr algn="ctr" marL="328930" marR="33337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85">
                          <a:latin typeface="Cambria"/>
                          <a:cs typeface="Cambria"/>
                        </a:rPr>
                        <a:t>Deepfakes</a:t>
                      </a:r>
                      <a:r>
                        <a:rPr dirty="0" sz="1800" spc="1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5">
                          <a:latin typeface="Cambria"/>
                          <a:cs typeface="Cambria"/>
                        </a:rPr>
                        <a:t>Generation</a:t>
                      </a:r>
                      <a:r>
                        <a:rPr dirty="0" sz="1800" spc="10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5">
                          <a:latin typeface="Cambria"/>
                          <a:cs typeface="Cambria"/>
                        </a:rPr>
                        <a:t>and 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Detection: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35">
                          <a:latin typeface="Cambria"/>
                          <a:cs typeface="Cambria"/>
                        </a:rPr>
                        <a:t>A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Short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 Survey </a:t>
                      </a:r>
                      <a:r>
                        <a:rPr dirty="0" sz="1800" spc="-10">
                          <a:latin typeface="Cambria"/>
                          <a:cs typeface="Cambria"/>
                        </a:rPr>
                        <a:t>(2023)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016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Zahid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Akhtar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28905" marR="121285" indent="52324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110">
                          <a:latin typeface="Cambria"/>
                          <a:cs typeface="Cambria"/>
                        </a:rPr>
                        <a:t>Summarizes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deepfake 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generation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50">
                          <a:latin typeface="Cambria"/>
                          <a:cs typeface="Cambria"/>
                        </a:rPr>
                        <a:t>tools</a:t>
                      </a:r>
                      <a:r>
                        <a:rPr dirty="0" sz="1800" spc="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0">
                          <a:latin typeface="Cambria"/>
                          <a:cs typeface="Cambria"/>
                        </a:rPr>
                        <a:t>and</a:t>
                      </a:r>
                      <a:r>
                        <a:rPr dirty="0" sz="1800" spc="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65">
                          <a:latin typeface="Cambria"/>
                          <a:cs typeface="Cambria"/>
                        </a:rPr>
                        <a:t>detection </a:t>
                      </a:r>
                      <a:r>
                        <a:rPr dirty="0" sz="1800" spc="95">
                          <a:latin typeface="Cambria"/>
                          <a:cs typeface="Cambria"/>
                        </a:rPr>
                        <a:t>approaches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with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focus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4">
                          <a:latin typeface="Cambria"/>
                          <a:cs typeface="Cambria"/>
                        </a:rPr>
                        <a:t>on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facial</a:t>
                      </a:r>
                      <a:endParaRPr sz="1800">
                        <a:latin typeface="Cambria"/>
                        <a:cs typeface="Cambria"/>
                      </a:endParaRPr>
                    </a:p>
                    <a:p>
                      <a:pPr marL="148018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800" spc="95">
                          <a:latin typeface="Cambria"/>
                          <a:cs typeface="Cambria"/>
                        </a:rPr>
                        <a:t>media.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443230" marR="235585" indent="-20955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CNNs, </a:t>
                      </a:r>
                      <a:r>
                        <a:rPr dirty="0" sz="1800" spc="65">
                          <a:latin typeface="Cambria"/>
                          <a:cs typeface="Cambria"/>
                        </a:rPr>
                        <a:t>Feature 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Extraction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marL="214629" marR="219710" indent="35179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90">
                          <a:latin typeface="Cambria"/>
                          <a:cs typeface="Cambria"/>
                        </a:rPr>
                        <a:t>Deepfake</a:t>
                      </a:r>
                      <a:r>
                        <a:rPr dirty="0" sz="1800" spc="11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Detection:</a:t>
                      </a:r>
                      <a:r>
                        <a:rPr dirty="0" sz="1800" spc="11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A 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Comparative</a:t>
                      </a:r>
                      <a:r>
                        <a:rPr dirty="0" sz="1800" spc="1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Analysis</a:t>
                      </a:r>
                      <a:r>
                        <a:rPr dirty="0" sz="1800" spc="1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-10">
                          <a:latin typeface="Cambria"/>
                          <a:cs typeface="Cambria"/>
                        </a:rPr>
                        <a:t>(2023)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4E2CD"/>
                    </a:solidFill>
                  </a:tcPr>
                </a:tc>
                <a:tc>
                  <a:txBody>
                    <a:bodyPr/>
                    <a:lstStyle/>
                    <a:p>
                      <a:pPr marL="376555" marR="288925" indent="-9525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95">
                          <a:latin typeface="Cambria"/>
                          <a:cs typeface="Cambria"/>
                        </a:rPr>
                        <a:t>Sohail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05">
                          <a:latin typeface="Cambria"/>
                          <a:cs typeface="Cambria"/>
                        </a:rPr>
                        <a:t>A.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14">
                          <a:latin typeface="Cambria"/>
                          <a:cs typeface="Cambria"/>
                        </a:rPr>
                        <a:t>Khan,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55">
                          <a:latin typeface="Cambria"/>
                          <a:cs typeface="Cambria"/>
                        </a:rPr>
                        <a:t>Duc- 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Tien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Dang-</a:t>
                      </a:r>
                      <a:r>
                        <a:rPr dirty="0" sz="1800" spc="100">
                          <a:latin typeface="Cambria"/>
                          <a:cs typeface="Cambria"/>
                        </a:rPr>
                        <a:t>Nguyen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4E2CD"/>
                    </a:solidFill>
                  </a:tcPr>
                </a:tc>
                <a:tc>
                  <a:txBody>
                    <a:bodyPr/>
                    <a:lstStyle/>
                    <a:p>
                      <a:pPr marL="205104" marR="186690" indent="-19050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95">
                          <a:latin typeface="Cambria"/>
                          <a:cs typeface="Cambria"/>
                        </a:rPr>
                        <a:t>Compares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supervised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120">
                          <a:latin typeface="Cambria"/>
                          <a:cs typeface="Cambria"/>
                        </a:rPr>
                        <a:t>and</a:t>
                      </a:r>
                      <a:r>
                        <a:rPr dirty="0" sz="180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40">
                          <a:latin typeface="Cambria"/>
                          <a:cs typeface="Cambria"/>
                        </a:rPr>
                        <a:t>self- </a:t>
                      </a:r>
                      <a:r>
                        <a:rPr dirty="0" sz="1800" spc="85">
                          <a:latin typeface="Cambria"/>
                          <a:cs typeface="Cambria"/>
                        </a:rPr>
                        <a:t>supervised</a:t>
                      </a:r>
                      <a:r>
                        <a:rPr dirty="0" sz="1800" spc="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90">
                          <a:latin typeface="Cambria"/>
                          <a:cs typeface="Cambria"/>
                        </a:rPr>
                        <a:t>deepfake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1800" spc="55">
                          <a:latin typeface="Cambria"/>
                          <a:cs typeface="Cambria"/>
                        </a:rPr>
                        <a:t>detectors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4E2CD"/>
                    </a:solidFill>
                  </a:tcPr>
                </a:tc>
                <a:tc>
                  <a:txBody>
                    <a:bodyPr/>
                    <a:lstStyle/>
                    <a:p>
                      <a:pPr marL="252729" marR="159385" indent="-85725">
                        <a:lnSpc>
                          <a:spcPct val="100600"/>
                        </a:lnSpc>
                        <a:spcBef>
                          <a:spcPts val="270"/>
                        </a:spcBef>
                      </a:pPr>
                      <a:r>
                        <a:rPr dirty="0" sz="1800" spc="55">
                          <a:latin typeface="Cambria"/>
                          <a:cs typeface="Cambria"/>
                        </a:rPr>
                        <a:t>Self-</a:t>
                      </a:r>
                      <a:r>
                        <a:rPr dirty="0" sz="1800" spc="75">
                          <a:latin typeface="Cambria"/>
                          <a:cs typeface="Cambria"/>
                        </a:rPr>
                        <a:t>Supervised Transformers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D4E2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8265">
              <a:lnSpc>
                <a:spcPts val="1240"/>
              </a:lnSpc>
            </a:pPr>
            <a:fld id="{81D60167-4931-47E6-BA6A-407CBD079E47}" type="slidenum">
              <a:rPr dirty="0" spc="-50" b="1">
                <a:latin typeface="Calibri"/>
                <a:cs typeface="Calibri"/>
              </a:rPr>
              <a:t>6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61236" rIns="0" bIns="0" rtlCol="0" vert="horz">
            <a:spAutoFit/>
          </a:bodyPr>
          <a:lstStyle/>
          <a:p>
            <a:pPr marL="3375660">
              <a:lnSpc>
                <a:spcPct val="100000"/>
              </a:lnSpc>
              <a:spcBef>
                <a:spcPts val="95"/>
              </a:spcBef>
            </a:pPr>
            <a:r>
              <a:rPr dirty="0" sz="4000" spc="-420"/>
              <a:t>EXISTING</a:t>
            </a:r>
            <a:r>
              <a:rPr dirty="0" sz="4000" spc="-204"/>
              <a:t> </a:t>
            </a:r>
            <a:r>
              <a:rPr dirty="0" sz="4000" spc="-505"/>
              <a:t>SYSTEM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408172" y="1837030"/>
            <a:ext cx="11470005" cy="2785110"/>
          </a:xfrm>
          <a:prstGeom prst="rect">
            <a:avLst/>
          </a:prstGeom>
        </p:spPr>
        <p:txBody>
          <a:bodyPr wrap="square" lIns="0" tIns="198755" rIns="0" bIns="0" rtlCol="0" vert="horz">
            <a:spAutoFit/>
          </a:bodyPr>
          <a:lstStyle/>
          <a:p>
            <a:pPr marL="497840" indent="-485140">
              <a:lnSpc>
                <a:spcPct val="100000"/>
              </a:lnSpc>
              <a:spcBef>
                <a:spcPts val="1565"/>
              </a:spcBef>
              <a:buFont typeface="Arial MT"/>
              <a:buAutoNum type="arabicPeriod"/>
              <a:tabLst>
                <a:tab pos="497840" algn="l"/>
              </a:tabLst>
            </a:pPr>
            <a:r>
              <a:rPr dirty="0" sz="2400" spc="110">
                <a:latin typeface="Cambria"/>
                <a:cs typeface="Cambria"/>
              </a:rPr>
              <a:t>Most</a:t>
            </a:r>
            <a:r>
              <a:rPr dirty="0" sz="2400" spc="95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current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systems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rely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35">
                <a:latin typeface="Cambria"/>
                <a:cs typeface="Cambria"/>
              </a:rPr>
              <a:t>heavily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55">
                <a:latin typeface="Cambria"/>
                <a:cs typeface="Cambria"/>
              </a:rPr>
              <a:t>on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visual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artifacts.</a:t>
            </a:r>
            <a:endParaRPr sz="2400">
              <a:latin typeface="Cambria"/>
              <a:cs typeface="Cambria"/>
            </a:endParaRPr>
          </a:p>
          <a:p>
            <a:pPr marL="497840" marR="5080" indent="-485775">
              <a:lnSpc>
                <a:spcPct val="150900"/>
              </a:lnSpc>
              <a:buFont typeface="Arial MT"/>
              <a:buAutoNum type="arabicPeriod"/>
              <a:tabLst>
                <a:tab pos="497840" algn="l"/>
                <a:tab pos="1416685" algn="l"/>
                <a:tab pos="2697480" algn="l"/>
                <a:tab pos="3911600" algn="l"/>
                <a:tab pos="4411980" algn="l"/>
                <a:tab pos="5911850" algn="l"/>
                <a:tab pos="6364605" algn="l"/>
                <a:tab pos="8349615" algn="l"/>
                <a:tab pos="9420860" algn="l"/>
                <a:tab pos="10454005" algn="l"/>
                <a:tab pos="11106785" algn="l"/>
              </a:tabLst>
            </a:pPr>
            <a:r>
              <a:rPr dirty="0" sz="2400" spc="120">
                <a:latin typeface="Cambria"/>
                <a:cs typeface="Cambria"/>
              </a:rPr>
              <a:t>Some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85">
                <a:latin typeface="Cambria"/>
                <a:cs typeface="Cambria"/>
              </a:rPr>
              <a:t>systems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14">
                <a:latin typeface="Cambria"/>
                <a:cs typeface="Cambria"/>
              </a:rPr>
              <a:t>depend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30">
                <a:latin typeface="Cambria"/>
                <a:cs typeface="Cambria"/>
              </a:rPr>
              <a:t>on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20">
                <a:latin typeface="Cambria"/>
                <a:cs typeface="Cambria"/>
              </a:rPr>
              <a:t>metadata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5">
                <a:latin typeface="Cambria"/>
                <a:cs typeface="Cambria"/>
              </a:rPr>
              <a:t>or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5">
                <a:latin typeface="Cambria"/>
                <a:cs typeface="Cambria"/>
              </a:rPr>
              <a:t>compression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80">
                <a:latin typeface="Cambria"/>
                <a:cs typeface="Cambria"/>
              </a:rPr>
              <a:t>traces,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50">
                <a:latin typeface="Cambria"/>
                <a:cs typeface="Cambria"/>
              </a:rPr>
              <a:t>which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40">
                <a:latin typeface="Cambria"/>
                <a:cs typeface="Cambria"/>
              </a:rPr>
              <a:t>can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5">
                <a:latin typeface="Cambria"/>
                <a:cs typeface="Cambria"/>
              </a:rPr>
              <a:t>be </a:t>
            </a:r>
            <a:r>
              <a:rPr dirty="0" sz="2400" spc="105">
                <a:latin typeface="Cambria"/>
                <a:cs typeface="Cambria"/>
              </a:rPr>
              <a:t>easily </a:t>
            </a:r>
            <a:r>
              <a:rPr dirty="0" sz="2400" spc="140">
                <a:latin typeface="Cambria"/>
                <a:cs typeface="Cambria"/>
              </a:rPr>
              <a:t>removed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by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attackers.</a:t>
            </a:r>
            <a:endParaRPr sz="2400">
              <a:latin typeface="Cambria"/>
              <a:cs typeface="Cambria"/>
            </a:endParaRPr>
          </a:p>
          <a:p>
            <a:pPr marL="497840" marR="9525" indent="-485775">
              <a:lnSpc>
                <a:spcPct val="150900"/>
              </a:lnSpc>
              <a:buFont typeface="Arial MT"/>
              <a:buAutoNum type="arabicPeriod"/>
              <a:tabLst>
                <a:tab pos="497840" algn="l"/>
              </a:tabLst>
            </a:pPr>
            <a:r>
              <a:rPr dirty="0" sz="2400" spc="155">
                <a:latin typeface="Cambria"/>
                <a:cs typeface="Cambria"/>
              </a:rPr>
              <a:t>High</a:t>
            </a:r>
            <a:r>
              <a:rPr dirty="0" sz="2400" spc="240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computational</a:t>
            </a:r>
            <a:r>
              <a:rPr dirty="0" sz="2400" spc="310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cost</a:t>
            </a:r>
            <a:r>
              <a:rPr dirty="0" sz="2400" spc="335">
                <a:latin typeface="Cambria"/>
                <a:cs typeface="Cambria"/>
              </a:rPr>
              <a:t> </a:t>
            </a:r>
            <a:r>
              <a:rPr dirty="0" sz="2400" spc="380">
                <a:latin typeface="Cambria"/>
                <a:cs typeface="Cambria"/>
              </a:rPr>
              <a:t>→</a:t>
            </a:r>
            <a:r>
              <a:rPr dirty="0" sz="2400" spc="175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diﬃcult</a:t>
            </a:r>
            <a:r>
              <a:rPr dirty="0" sz="2400" spc="315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to</a:t>
            </a:r>
            <a:r>
              <a:rPr dirty="0" sz="2400" spc="270">
                <a:latin typeface="Cambria"/>
                <a:cs typeface="Cambria"/>
              </a:rPr>
              <a:t> </a:t>
            </a:r>
            <a:r>
              <a:rPr dirty="0" sz="2400" spc="170">
                <a:latin typeface="Cambria"/>
                <a:cs typeface="Cambria"/>
              </a:rPr>
              <a:t>run</a:t>
            </a:r>
            <a:r>
              <a:rPr dirty="0" sz="2400" spc="320">
                <a:latin typeface="Cambria"/>
                <a:cs typeface="Cambria"/>
              </a:rPr>
              <a:t> </a:t>
            </a:r>
            <a:r>
              <a:rPr dirty="0" sz="2400" spc="150">
                <a:latin typeface="Cambria"/>
                <a:cs typeface="Cambria"/>
              </a:rPr>
              <a:t>in</a:t>
            </a:r>
            <a:r>
              <a:rPr dirty="0" sz="2400" spc="26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real-</a:t>
            </a:r>
            <a:r>
              <a:rPr dirty="0" sz="2400" spc="114">
                <a:latin typeface="Cambria"/>
                <a:cs typeface="Cambria"/>
              </a:rPr>
              <a:t>time</a:t>
            </a:r>
            <a:r>
              <a:rPr dirty="0" sz="2400" spc="26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or</a:t>
            </a:r>
            <a:r>
              <a:rPr dirty="0" sz="2400" spc="210">
                <a:latin typeface="Cambria"/>
                <a:cs typeface="Cambria"/>
              </a:rPr>
              <a:t> </a:t>
            </a:r>
            <a:r>
              <a:rPr dirty="0" sz="2400" spc="155">
                <a:latin typeface="Cambria"/>
                <a:cs typeface="Cambria"/>
              </a:rPr>
              <a:t>on</a:t>
            </a:r>
            <a:r>
              <a:rPr dirty="0" sz="2400" spc="320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low-</a:t>
            </a:r>
            <a:r>
              <a:rPr dirty="0" sz="2400" spc="90">
                <a:latin typeface="Cambria"/>
                <a:cs typeface="Cambria"/>
              </a:rPr>
              <a:t>resource </a:t>
            </a:r>
            <a:r>
              <a:rPr dirty="0" sz="2400" spc="100">
                <a:latin typeface="Cambria"/>
                <a:cs typeface="Cambria"/>
              </a:rPr>
              <a:t>devices.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8265">
              <a:lnSpc>
                <a:spcPts val="1240"/>
              </a:lnSpc>
            </a:pPr>
            <a:fld id="{81D60167-4931-47E6-BA6A-407CBD079E47}" type="slidenum">
              <a:rPr dirty="0" spc="-50" b="1">
                <a:latin typeface="Calibri"/>
                <a:cs typeface="Calibri"/>
              </a:rPr>
              <a:t>6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3156" y="300984"/>
            <a:ext cx="554291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45"/>
              <a:t>PROBLEM</a:t>
            </a:r>
            <a:r>
              <a:rPr dirty="0" sz="4000" spc="-190"/>
              <a:t> </a:t>
            </a:r>
            <a:r>
              <a:rPr dirty="0" sz="4000" spc="-450"/>
              <a:t>IDENTIFICAITON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839834" y="933272"/>
            <a:ext cx="10720705" cy="5363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361950">
              <a:lnSpc>
                <a:spcPct val="150900"/>
              </a:lnSpc>
              <a:spcBef>
                <a:spcPts val="100"/>
              </a:spcBef>
              <a:buAutoNum type="arabicPeriod"/>
              <a:tabLst>
                <a:tab pos="374650" algn="l"/>
              </a:tabLst>
            </a:pPr>
            <a:r>
              <a:rPr dirty="0" sz="2400" spc="114">
                <a:latin typeface="Cambria"/>
                <a:cs typeface="Cambria"/>
              </a:rPr>
              <a:t>Deepfakes</a:t>
            </a:r>
            <a:r>
              <a:rPr dirty="0" sz="2400" spc="420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are</a:t>
            </a:r>
            <a:r>
              <a:rPr dirty="0" sz="2400" spc="45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widely</a:t>
            </a:r>
            <a:r>
              <a:rPr dirty="0" sz="2400" spc="42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used</a:t>
            </a:r>
            <a:r>
              <a:rPr dirty="0" sz="2400" spc="430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to</a:t>
            </a:r>
            <a:r>
              <a:rPr dirty="0" sz="2400" spc="409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spread</a:t>
            </a:r>
            <a:r>
              <a:rPr dirty="0" sz="2400" spc="320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false</a:t>
            </a:r>
            <a:r>
              <a:rPr dirty="0" sz="2400" spc="520">
                <a:latin typeface="Cambria"/>
                <a:cs typeface="Cambria"/>
              </a:rPr>
              <a:t> </a:t>
            </a:r>
            <a:r>
              <a:rPr dirty="0" sz="2400" spc="135">
                <a:latin typeface="Cambria"/>
                <a:cs typeface="Cambria"/>
              </a:rPr>
              <a:t>news</a:t>
            </a:r>
            <a:r>
              <a:rPr dirty="0" sz="2400" spc="330">
                <a:latin typeface="Cambria"/>
                <a:cs typeface="Cambria"/>
              </a:rPr>
              <a:t> </a:t>
            </a:r>
            <a:r>
              <a:rPr dirty="0" sz="2400" spc="165">
                <a:latin typeface="Cambria"/>
                <a:cs typeface="Cambria"/>
              </a:rPr>
              <a:t>and</a:t>
            </a:r>
            <a:r>
              <a:rPr dirty="0" sz="2400" spc="520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misinformation, </a:t>
            </a:r>
            <a:r>
              <a:rPr dirty="0" sz="2400" spc="145">
                <a:latin typeface="Cambria"/>
                <a:cs typeface="Cambria"/>
              </a:rPr>
              <a:t>inﬂuencing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public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35">
                <a:latin typeface="Cambria"/>
                <a:cs typeface="Cambria"/>
              </a:rPr>
              <a:t>opinion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65">
                <a:latin typeface="Cambria"/>
                <a:cs typeface="Cambria"/>
              </a:rPr>
              <a:t>and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creating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political </a:t>
            </a:r>
            <a:r>
              <a:rPr dirty="0" sz="2400" spc="120">
                <a:latin typeface="Cambria"/>
                <a:cs typeface="Cambria"/>
              </a:rPr>
              <a:t>or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social</a:t>
            </a:r>
            <a:r>
              <a:rPr dirty="0" sz="2400" spc="100">
                <a:latin typeface="Cambria"/>
                <a:cs typeface="Cambria"/>
              </a:rPr>
              <a:t> unrest.</a:t>
            </a:r>
            <a:endParaRPr sz="2400">
              <a:latin typeface="Cambria"/>
              <a:cs typeface="Cambria"/>
            </a:endParaRPr>
          </a:p>
          <a:p>
            <a:pPr algn="just" marL="12700" marR="6985" indent="361315">
              <a:lnSpc>
                <a:spcPct val="150900"/>
              </a:lnSpc>
              <a:spcBef>
                <a:spcPts val="969"/>
              </a:spcBef>
              <a:buAutoNum type="arabicPeriod"/>
              <a:tabLst>
                <a:tab pos="374015" algn="l"/>
              </a:tabLst>
            </a:pPr>
            <a:r>
              <a:rPr dirty="0" sz="2400" spc="110">
                <a:latin typeface="Cambria"/>
                <a:cs typeface="Cambria"/>
              </a:rPr>
              <a:t>They</a:t>
            </a:r>
            <a:r>
              <a:rPr dirty="0" sz="2400" spc="459">
                <a:latin typeface="Cambria"/>
                <a:cs typeface="Cambria"/>
              </a:rPr>
              <a:t> </a:t>
            </a:r>
            <a:r>
              <a:rPr dirty="0" sz="2400" spc="135">
                <a:latin typeface="Cambria"/>
                <a:cs typeface="Cambria"/>
              </a:rPr>
              <a:t>enable</a:t>
            </a:r>
            <a:r>
              <a:rPr dirty="0" sz="2400" spc="43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misuse</a:t>
            </a:r>
            <a:r>
              <a:rPr dirty="0" sz="2400" spc="335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of</a:t>
            </a:r>
            <a:r>
              <a:rPr dirty="0" sz="2400" spc="44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personal</a:t>
            </a:r>
            <a:r>
              <a:rPr dirty="0" sz="2400" spc="37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identities</a:t>
            </a:r>
            <a:r>
              <a:rPr dirty="0" sz="2400" spc="45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by</a:t>
            </a:r>
            <a:r>
              <a:rPr dirty="0" sz="2400" spc="459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cloning</a:t>
            </a:r>
            <a:r>
              <a:rPr dirty="0" sz="2400" spc="325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faces</a:t>
            </a:r>
            <a:r>
              <a:rPr dirty="0" sz="2400" spc="540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leading</a:t>
            </a:r>
            <a:r>
              <a:rPr dirty="0" sz="2400" spc="409">
                <a:latin typeface="Cambria"/>
                <a:cs typeface="Cambria"/>
              </a:rPr>
              <a:t> </a:t>
            </a:r>
            <a:r>
              <a:rPr dirty="0" sz="2400" spc="35">
                <a:latin typeface="Cambria"/>
                <a:cs typeface="Cambria"/>
              </a:rPr>
              <a:t>to </a:t>
            </a:r>
            <a:r>
              <a:rPr dirty="0" sz="2400" spc="130">
                <a:latin typeface="Cambria"/>
                <a:cs typeface="Cambria"/>
              </a:rPr>
              <a:t>privacy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violations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65">
                <a:latin typeface="Cambria"/>
                <a:cs typeface="Cambria"/>
              </a:rPr>
              <a:t>and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online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harassment.</a:t>
            </a:r>
            <a:endParaRPr sz="2400">
              <a:latin typeface="Cambria"/>
              <a:cs typeface="Cambria"/>
            </a:endParaRPr>
          </a:p>
          <a:p>
            <a:pPr algn="just" marL="12700" marR="10160" indent="467995">
              <a:lnSpc>
                <a:spcPct val="150900"/>
              </a:lnSpc>
              <a:spcBef>
                <a:spcPts val="975"/>
              </a:spcBef>
              <a:buAutoNum type="arabicPeriod"/>
              <a:tabLst>
                <a:tab pos="480695" algn="l"/>
              </a:tabLst>
            </a:pPr>
            <a:r>
              <a:rPr dirty="0" sz="2400" spc="125">
                <a:latin typeface="Cambria"/>
                <a:cs typeface="Cambria"/>
              </a:rPr>
              <a:t>Cybercriminals</a:t>
            </a:r>
            <a:r>
              <a:rPr dirty="0" sz="2400" spc="350">
                <a:latin typeface="Cambria"/>
                <a:cs typeface="Cambria"/>
              </a:rPr>
              <a:t>  </a:t>
            </a:r>
            <a:r>
              <a:rPr dirty="0" sz="2400" spc="110">
                <a:latin typeface="Cambria"/>
                <a:cs typeface="Cambria"/>
              </a:rPr>
              <a:t>exploit</a:t>
            </a:r>
            <a:r>
              <a:rPr dirty="0" sz="2400" spc="390">
                <a:latin typeface="Cambria"/>
                <a:cs typeface="Cambria"/>
              </a:rPr>
              <a:t>  </a:t>
            </a:r>
            <a:r>
              <a:rPr dirty="0" sz="2400" spc="114">
                <a:latin typeface="Cambria"/>
                <a:cs typeface="Cambria"/>
              </a:rPr>
              <a:t>deepfake</a:t>
            </a:r>
            <a:r>
              <a:rPr dirty="0" sz="2400" spc="375">
                <a:latin typeface="Cambria"/>
                <a:cs typeface="Cambria"/>
              </a:rPr>
              <a:t>  </a:t>
            </a:r>
            <a:r>
              <a:rPr dirty="0" sz="2400" spc="110">
                <a:latin typeface="Cambria"/>
                <a:cs typeface="Cambria"/>
              </a:rPr>
              <a:t>technology</a:t>
            </a:r>
            <a:r>
              <a:rPr dirty="0" sz="2400" spc="390">
                <a:latin typeface="Cambria"/>
                <a:cs typeface="Cambria"/>
              </a:rPr>
              <a:t>  </a:t>
            </a:r>
            <a:r>
              <a:rPr dirty="0" sz="2400" spc="60">
                <a:latin typeface="Cambria"/>
                <a:cs typeface="Cambria"/>
              </a:rPr>
              <a:t>to</a:t>
            </a:r>
            <a:r>
              <a:rPr dirty="0" sz="2400" spc="365">
                <a:latin typeface="Cambria"/>
                <a:cs typeface="Cambria"/>
              </a:rPr>
              <a:t>  </a:t>
            </a:r>
            <a:r>
              <a:rPr dirty="0" sz="2400" spc="125">
                <a:latin typeface="Cambria"/>
                <a:cs typeface="Cambria"/>
              </a:rPr>
              <a:t>conduct</a:t>
            </a:r>
            <a:r>
              <a:rPr dirty="0" sz="2400" spc="365">
                <a:latin typeface="Cambria"/>
                <a:cs typeface="Cambria"/>
              </a:rPr>
              <a:t>  </a:t>
            </a:r>
            <a:r>
              <a:rPr dirty="0" sz="2400" spc="125">
                <a:latin typeface="Cambria"/>
                <a:cs typeface="Cambria"/>
              </a:rPr>
              <a:t>financial scams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65">
                <a:latin typeface="Cambria"/>
                <a:cs typeface="Cambria"/>
              </a:rPr>
              <a:t>and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fraudulent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transactions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by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impersonating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trusted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individuals.</a:t>
            </a:r>
            <a:endParaRPr sz="2400">
              <a:latin typeface="Cambria"/>
              <a:cs typeface="Cambria"/>
            </a:endParaRPr>
          </a:p>
          <a:p>
            <a:pPr algn="just" marL="12700" marR="11430" indent="404495">
              <a:lnSpc>
                <a:spcPct val="150900"/>
              </a:lnSpc>
              <a:spcBef>
                <a:spcPts val="975"/>
              </a:spcBef>
              <a:buAutoNum type="arabicPeriod"/>
              <a:tabLst>
                <a:tab pos="417195" algn="l"/>
              </a:tabLst>
            </a:pPr>
            <a:r>
              <a:rPr dirty="0" sz="2400" spc="100">
                <a:latin typeface="Cambria"/>
                <a:cs typeface="Cambria"/>
              </a:rPr>
              <a:t>The</a:t>
            </a:r>
            <a:r>
              <a:rPr dirty="0" sz="2400" spc="100">
                <a:latin typeface="Cambria"/>
                <a:cs typeface="Cambria"/>
              </a:rPr>
              <a:t>  </a:t>
            </a:r>
            <a:r>
              <a:rPr dirty="0" sz="2400" spc="125">
                <a:latin typeface="Cambria"/>
                <a:cs typeface="Cambria"/>
              </a:rPr>
              <a:t>increasing</a:t>
            </a:r>
            <a:r>
              <a:rPr dirty="0" sz="2400" spc="130">
                <a:latin typeface="Cambria"/>
                <a:cs typeface="Cambria"/>
              </a:rPr>
              <a:t>  realism</a:t>
            </a:r>
            <a:r>
              <a:rPr dirty="0" sz="2400" spc="105">
                <a:latin typeface="Cambria"/>
                <a:cs typeface="Cambria"/>
              </a:rPr>
              <a:t>  </a:t>
            </a:r>
            <a:r>
              <a:rPr dirty="0" sz="2400" spc="130">
                <a:latin typeface="Cambria"/>
                <a:cs typeface="Cambria"/>
              </a:rPr>
              <a:t>of</a:t>
            </a:r>
            <a:r>
              <a:rPr dirty="0" sz="2400" spc="175">
                <a:latin typeface="Cambria"/>
                <a:cs typeface="Cambria"/>
              </a:rPr>
              <a:t>  </a:t>
            </a:r>
            <a:r>
              <a:rPr dirty="0" sz="2400" spc="105">
                <a:latin typeface="Cambria"/>
                <a:cs typeface="Cambria"/>
              </a:rPr>
              <a:t>deepfakes</a:t>
            </a:r>
            <a:r>
              <a:rPr dirty="0" sz="2400" spc="65">
                <a:latin typeface="Cambria"/>
                <a:cs typeface="Cambria"/>
              </a:rPr>
              <a:t>  </a:t>
            </a:r>
            <a:r>
              <a:rPr dirty="0" sz="2400" spc="105">
                <a:latin typeface="Cambria"/>
                <a:cs typeface="Cambria"/>
              </a:rPr>
              <a:t>causes</a:t>
            </a:r>
            <a:r>
              <a:rPr dirty="0" sz="2400" spc="140">
                <a:latin typeface="Cambria"/>
                <a:cs typeface="Cambria"/>
              </a:rPr>
              <a:t>  </a:t>
            </a:r>
            <a:r>
              <a:rPr dirty="0" sz="2400" spc="100">
                <a:latin typeface="Cambria"/>
                <a:cs typeface="Cambria"/>
              </a:rPr>
              <a:t>people</a:t>
            </a:r>
            <a:r>
              <a:rPr dirty="0" sz="2400" spc="110">
                <a:latin typeface="Cambria"/>
                <a:cs typeface="Cambria"/>
              </a:rPr>
              <a:t>  </a:t>
            </a:r>
            <a:r>
              <a:rPr dirty="0" sz="2400" spc="60">
                <a:latin typeface="Cambria"/>
                <a:cs typeface="Cambria"/>
              </a:rPr>
              <a:t>to</a:t>
            </a:r>
            <a:r>
              <a:rPr dirty="0" sz="2400" spc="155">
                <a:latin typeface="Cambria"/>
                <a:cs typeface="Cambria"/>
              </a:rPr>
              <a:t>  </a:t>
            </a:r>
            <a:r>
              <a:rPr dirty="0" sz="2400" spc="80">
                <a:latin typeface="Cambria"/>
                <a:cs typeface="Cambria"/>
              </a:rPr>
              <a:t>lose</a:t>
            </a:r>
            <a:r>
              <a:rPr dirty="0" sz="2400" spc="70">
                <a:latin typeface="Cambria"/>
                <a:cs typeface="Cambria"/>
              </a:rPr>
              <a:t>  </a:t>
            </a:r>
            <a:r>
              <a:rPr dirty="0" sz="2400" spc="75">
                <a:latin typeface="Cambria"/>
                <a:cs typeface="Cambria"/>
              </a:rPr>
              <a:t>trust</a:t>
            </a:r>
            <a:r>
              <a:rPr dirty="0" sz="2400" spc="130">
                <a:latin typeface="Cambria"/>
                <a:cs typeface="Cambria"/>
              </a:rPr>
              <a:t>  </a:t>
            </a:r>
            <a:r>
              <a:rPr dirty="0" sz="2400" spc="125">
                <a:latin typeface="Cambria"/>
                <a:cs typeface="Cambria"/>
              </a:rPr>
              <a:t>in </a:t>
            </a:r>
            <a:r>
              <a:rPr dirty="0" sz="2400" spc="100">
                <a:latin typeface="Cambria"/>
                <a:cs typeface="Cambria"/>
              </a:rPr>
              <a:t>digital</a:t>
            </a:r>
            <a:r>
              <a:rPr dirty="0" sz="2400" spc="395">
                <a:latin typeface="Cambria"/>
                <a:cs typeface="Cambria"/>
              </a:rPr>
              <a:t>  </a:t>
            </a:r>
            <a:r>
              <a:rPr dirty="0" sz="2400" spc="145">
                <a:latin typeface="Cambria"/>
                <a:cs typeface="Cambria"/>
              </a:rPr>
              <a:t>media,</a:t>
            </a:r>
            <a:r>
              <a:rPr dirty="0" sz="2400" spc="375">
                <a:latin typeface="Cambria"/>
                <a:cs typeface="Cambria"/>
              </a:rPr>
              <a:t>  </a:t>
            </a:r>
            <a:r>
              <a:rPr dirty="0" sz="2400" spc="155">
                <a:latin typeface="Cambria"/>
                <a:cs typeface="Cambria"/>
              </a:rPr>
              <a:t>making</a:t>
            </a:r>
            <a:r>
              <a:rPr dirty="0" sz="2400" spc="415">
                <a:latin typeface="Cambria"/>
                <a:cs typeface="Cambria"/>
              </a:rPr>
              <a:t>  </a:t>
            </a:r>
            <a:r>
              <a:rPr dirty="0" sz="2400" spc="65">
                <a:latin typeface="Cambria"/>
                <a:cs typeface="Cambria"/>
              </a:rPr>
              <a:t>it</a:t>
            </a:r>
            <a:r>
              <a:rPr dirty="0" sz="2400" spc="365">
                <a:latin typeface="Cambria"/>
                <a:cs typeface="Cambria"/>
              </a:rPr>
              <a:t>  </a:t>
            </a:r>
            <a:r>
              <a:rPr dirty="0" sz="2400" spc="125">
                <a:latin typeface="Cambria"/>
                <a:cs typeface="Cambria"/>
              </a:rPr>
              <a:t>diﬃcult</a:t>
            </a:r>
            <a:r>
              <a:rPr dirty="0" sz="2400" spc="409">
                <a:latin typeface="Cambria"/>
                <a:cs typeface="Cambria"/>
              </a:rPr>
              <a:t>  </a:t>
            </a:r>
            <a:r>
              <a:rPr dirty="0" sz="2400" spc="60">
                <a:latin typeface="Cambria"/>
                <a:cs typeface="Cambria"/>
              </a:rPr>
              <a:t>to</a:t>
            </a:r>
            <a:r>
              <a:rPr dirty="0" sz="2400" spc="430">
                <a:latin typeface="Cambria"/>
                <a:cs typeface="Cambria"/>
              </a:rPr>
              <a:t>  </a:t>
            </a:r>
            <a:r>
              <a:rPr dirty="0" sz="2400" spc="110">
                <a:latin typeface="Cambria"/>
                <a:cs typeface="Cambria"/>
              </a:rPr>
              <a:t>distinguish</a:t>
            </a:r>
            <a:r>
              <a:rPr dirty="0" sz="2400" spc="350">
                <a:latin typeface="Cambria"/>
                <a:cs typeface="Cambria"/>
              </a:rPr>
              <a:t>  </a:t>
            </a:r>
            <a:r>
              <a:rPr dirty="0" sz="2400" spc="125">
                <a:latin typeface="Cambria"/>
                <a:cs typeface="Cambria"/>
              </a:rPr>
              <a:t>between</a:t>
            </a:r>
            <a:r>
              <a:rPr dirty="0" sz="2400" spc="395">
                <a:latin typeface="Cambria"/>
                <a:cs typeface="Cambria"/>
              </a:rPr>
              <a:t>  </a:t>
            </a:r>
            <a:r>
              <a:rPr dirty="0" sz="2400" spc="114">
                <a:latin typeface="Cambria"/>
                <a:cs typeface="Cambria"/>
              </a:rPr>
              <a:t>real</a:t>
            </a:r>
            <a:r>
              <a:rPr dirty="0" sz="2400" spc="380">
                <a:latin typeface="Cambria"/>
                <a:cs typeface="Cambria"/>
              </a:rPr>
              <a:t>  </a:t>
            </a:r>
            <a:r>
              <a:rPr dirty="0" sz="2400" spc="140">
                <a:latin typeface="Cambria"/>
                <a:cs typeface="Cambria"/>
              </a:rPr>
              <a:t>and manipulated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content.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8265">
              <a:lnSpc>
                <a:spcPts val="1240"/>
              </a:lnSpc>
            </a:pPr>
            <a:fld id="{81D60167-4931-47E6-BA6A-407CBD079E47}" type="slidenum">
              <a:rPr dirty="0" spc="-50" b="1">
                <a:latin typeface="Calibri"/>
                <a:cs typeface="Calibri"/>
              </a:rPr>
              <a:t>6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13" y="404099"/>
            <a:ext cx="4210685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40"/>
              <a:t>PROPOSED</a:t>
            </a:r>
            <a:r>
              <a:rPr dirty="0" sz="4000" spc="-190"/>
              <a:t> </a:t>
            </a:r>
            <a:r>
              <a:rPr dirty="0" sz="4000" spc="-505"/>
              <a:t>SYSTEM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353645" y="1059805"/>
            <a:ext cx="11215370" cy="4440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700" indent="461645">
              <a:lnSpc>
                <a:spcPct val="150900"/>
              </a:lnSpc>
              <a:spcBef>
                <a:spcPts val="100"/>
              </a:spcBef>
              <a:buAutoNum type="arabicPeriod"/>
              <a:tabLst>
                <a:tab pos="474345" algn="l"/>
                <a:tab pos="908050" algn="l"/>
                <a:tab pos="1826260" algn="l"/>
                <a:tab pos="4210685" algn="l"/>
                <a:tab pos="5338445" algn="l"/>
                <a:tab pos="5791200" algn="l"/>
                <a:tab pos="7366634" algn="l"/>
                <a:tab pos="7856855" algn="l"/>
                <a:tab pos="10069830" algn="l"/>
              </a:tabLst>
            </a:pPr>
            <a:r>
              <a:rPr dirty="0" sz="2400" spc="130">
                <a:latin typeface="Cambria"/>
                <a:cs typeface="Cambria"/>
              </a:rPr>
              <a:t>A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0">
                <a:latin typeface="Cambria"/>
                <a:cs typeface="Cambria"/>
              </a:rPr>
              <a:t>deep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10">
                <a:latin typeface="Cambria"/>
                <a:cs typeface="Cambria"/>
              </a:rPr>
              <a:t>learning-</a:t>
            </a:r>
            <a:r>
              <a:rPr dirty="0" sz="2400" spc="120">
                <a:latin typeface="Cambria"/>
                <a:cs typeface="Cambria"/>
              </a:rPr>
              <a:t>based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30">
                <a:latin typeface="Cambria"/>
                <a:cs typeface="Cambria"/>
              </a:rPr>
              <a:t>model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40">
                <a:latin typeface="Cambria"/>
                <a:cs typeface="Cambria"/>
              </a:rPr>
              <a:t>is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5">
                <a:latin typeface="Cambria"/>
                <a:cs typeface="Cambria"/>
              </a:rPr>
              <a:t>proposed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35">
                <a:latin typeface="Cambria"/>
                <a:cs typeface="Cambria"/>
              </a:rPr>
              <a:t>to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14">
                <a:latin typeface="Cambria"/>
                <a:cs typeface="Cambria"/>
              </a:rPr>
              <a:t>automatically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35">
                <a:latin typeface="Cambria"/>
                <a:cs typeface="Cambria"/>
              </a:rPr>
              <a:t>analyze </a:t>
            </a:r>
            <a:r>
              <a:rPr dirty="0" sz="2400" spc="130">
                <a:latin typeface="Cambria"/>
                <a:cs typeface="Cambria"/>
              </a:rPr>
              <a:t>uploaded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images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65">
                <a:latin typeface="Cambria"/>
                <a:cs typeface="Cambria"/>
              </a:rPr>
              <a:t>and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identify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35">
                <a:latin typeface="Cambria"/>
                <a:cs typeface="Cambria"/>
              </a:rPr>
              <a:t>whether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they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are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real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or</a:t>
            </a:r>
            <a:r>
              <a:rPr dirty="0" sz="2400" spc="105">
                <a:latin typeface="Cambria"/>
                <a:cs typeface="Cambria"/>
              </a:rPr>
              <a:t> deepfake.</a:t>
            </a:r>
            <a:endParaRPr sz="2400">
              <a:latin typeface="Cambria"/>
              <a:cs typeface="Cambria"/>
            </a:endParaRPr>
          </a:p>
          <a:p>
            <a:pPr marL="12700" marR="5080" indent="405130">
              <a:lnSpc>
                <a:spcPct val="150900"/>
              </a:lnSpc>
              <a:buAutoNum type="arabicPeriod"/>
              <a:tabLst>
                <a:tab pos="417830" algn="l"/>
                <a:tab pos="1127760" algn="l"/>
                <a:tab pos="2284730" algn="l"/>
                <a:tab pos="3707765" algn="l"/>
                <a:tab pos="4046854" algn="l"/>
                <a:tab pos="5175250" algn="l"/>
                <a:tab pos="5942330" algn="l"/>
                <a:tab pos="7422515" algn="l"/>
                <a:tab pos="8361045" algn="l"/>
                <a:tab pos="9946005" algn="l"/>
              </a:tabLst>
            </a:pPr>
            <a:r>
              <a:rPr dirty="0" sz="2400" spc="75">
                <a:latin typeface="Cambria"/>
                <a:cs typeface="Cambria"/>
              </a:rPr>
              <a:t>The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85">
                <a:latin typeface="Cambria"/>
                <a:cs typeface="Cambria"/>
              </a:rPr>
              <a:t>system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5">
                <a:latin typeface="Cambria"/>
                <a:cs typeface="Cambria"/>
              </a:rPr>
              <a:t>provides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10">
                <a:latin typeface="Cambria"/>
                <a:cs typeface="Cambria"/>
              </a:rPr>
              <a:t>a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0">
                <a:latin typeface="Cambria"/>
                <a:cs typeface="Cambria"/>
              </a:rPr>
              <a:t>simple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20">
                <a:latin typeface="Cambria"/>
                <a:cs typeface="Cambria"/>
              </a:rPr>
              <a:t>web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10">
                <a:latin typeface="Cambria"/>
                <a:cs typeface="Cambria"/>
              </a:rPr>
              <a:t>interface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10">
                <a:latin typeface="Cambria"/>
                <a:cs typeface="Cambria"/>
              </a:rPr>
              <a:t>using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5">
                <a:latin typeface="Cambria"/>
                <a:cs typeface="Cambria"/>
              </a:rPr>
              <a:t>Streamlit,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20">
                <a:latin typeface="Cambria"/>
                <a:cs typeface="Cambria"/>
              </a:rPr>
              <a:t>allowing </a:t>
            </a:r>
            <a:r>
              <a:rPr dirty="0" sz="2400" spc="100">
                <a:latin typeface="Cambria"/>
                <a:cs typeface="Cambria"/>
              </a:rPr>
              <a:t>users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to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check</a:t>
            </a:r>
            <a:r>
              <a:rPr dirty="0" sz="2400" spc="110">
                <a:latin typeface="Cambria"/>
                <a:cs typeface="Cambria"/>
              </a:rPr>
              <a:t> authenticity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without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technical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knowledge.</a:t>
            </a:r>
            <a:endParaRPr sz="2400">
              <a:latin typeface="Cambria"/>
              <a:cs typeface="Cambria"/>
            </a:endParaRPr>
          </a:p>
          <a:p>
            <a:pPr marL="12700" marR="11430" indent="531495">
              <a:lnSpc>
                <a:spcPct val="150900"/>
              </a:lnSpc>
              <a:buAutoNum type="arabicPeriod"/>
              <a:tabLst>
                <a:tab pos="544195" algn="l"/>
                <a:tab pos="1370965" algn="l"/>
                <a:tab pos="2568575" algn="l"/>
                <a:tab pos="3757295" algn="l"/>
                <a:tab pos="6115685" algn="l"/>
                <a:tab pos="7275195" algn="l"/>
                <a:tab pos="8777605" algn="l"/>
                <a:tab pos="9775825" algn="l"/>
                <a:tab pos="10640695" algn="l"/>
              </a:tabLst>
            </a:pPr>
            <a:r>
              <a:rPr dirty="0" sz="2400" spc="80">
                <a:latin typeface="Cambria"/>
                <a:cs typeface="Cambria"/>
              </a:rPr>
              <a:t>The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30">
                <a:latin typeface="Cambria"/>
                <a:cs typeface="Cambria"/>
              </a:rPr>
              <a:t>model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10">
                <a:latin typeface="Cambria"/>
                <a:cs typeface="Cambria"/>
              </a:rPr>
              <a:t>learns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0">
                <a:latin typeface="Cambria"/>
                <a:cs typeface="Cambria"/>
              </a:rPr>
              <a:t>distinguishing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20">
                <a:latin typeface="Cambria"/>
                <a:cs typeface="Cambria"/>
              </a:rPr>
              <a:t>visual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5">
                <a:latin typeface="Cambria"/>
                <a:cs typeface="Cambria"/>
              </a:rPr>
              <a:t>patterns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40">
                <a:latin typeface="Cambria"/>
                <a:cs typeface="Cambria"/>
              </a:rPr>
              <a:t>from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5">
                <a:latin typeface="Cambria"/>
                <a:cs typeface="Cambria"/>
              </a:rPr>
              <a:t>real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40">
                <a:latin typeface="Cambria"/>
                <a:cs typeface="Cambria"/>
              </a:rPr>
              <a:t>and manipulated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images,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40">
                <a:latin typeface="Cambria"/>
                <a:cs typeface="Cambria"/>
              </a:rPr>
              <a:t>enabling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fast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65">
                <a:latin typeface="Cambria"/>
                <a:cs typeface="Cambria"/>
              </a:rPr>
              <a:t>and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accurate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classification.</a:t>
            </a:r>
            <a:endParaRPr sz="2400">
              <a:latin typeface="Cambria"/>
              <a:cs typeface="Cambria"/>
            </a:endParaRPr>
          </a:p>
          <a:p>
            <a:pPr marL="12700" marR="6350" indent="415290">
              <a:lnSpc>
                <a:spcPct val="150900"/>
              </a:lnSpc>
              <a:buAutoNum type="arabicPeriod"/>
              <a:tabLst>
                <a:tab pos="427990" algn="l"/>
                <a:tab pos="1148715" algn="l"/>
                <a:tab pos="2325370" algn="l"/>
                <a:tab pos="3588385" algn="l"/>
                <a:tab pos="3937000" algn="l"/>
                <a:tab pos="4829175" algn="l"/>
                <a:tab pos="6748145" algn="l"/>
                <a:tab pos="7763509" algn="l"/>
                <a:tab pos="8597900" algn="l"/>
                <a:tab pos="10354945" algn="l"/>
              </a:tabLst>
            </a:pPr>
            <a:r>
              <a:rPr dirty="0" sz="2400" spc="75">
                <a:latin typeface="Cambria"/>
                <a:cs typeface="Cambria"/>
              </a:rPr>
              <a:t>The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85">
                <a:latin typeface="Cambria"/>
                <a:cs typeface="Cambria"/>
              </a:rPr>
              <a:t>system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0">
                <a:latin typeface="Cambria"/>
                <a:cs typeface="Cambria"/>
              </a:rPr>
              <a:t>outputs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10">
                <a:latin typeface="Cambria"/>
                <a:cs typeface="Cambria"/>
              </a:rPr>
              <a:t>a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10">
                <a:latin typeface="Cambria"/>
                <a:cs typeface="Cambria"/>
              </a:rPr>
              <a:t>clear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0">
                <a:latin typeface="Cambria"/>
                <a:cs typeface="Cambria"/>
              </a:rPr>
              <a:t>authenticity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85">
                <a:latin typeface="Cambria"/>
                <a:cs typeface="Cambria"/>
              </a:rPr>
              <a:t>result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5">
                <a:latin typeface="Cambria"/>
                <a:cs typeface="Cambria"/>
              </a:rPr>
              <a:t>with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10">
                <a:latin typeface="Cambria"/>
                <a:cs typeface="Cambria"/>
              </a:rPr>
              <a:t>confidence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0">
                <a:latin typeface="Cambria"/>
                <a:cs typeface="Cambria"/>
              </a:rPr>
              <a:t>score, </a:t>
            </a:r>
            <a:r>
              <a:rPr dirty="0" sz="2400" spc="130">
                <a:latin typeface="Cambria"/>
                <a:cs typeface="Cambria"/>
              </a:rPr>
              <a:t>helping</a:t>
            </a:r>
            <a:r>
              <a:rPr dirty="0" sz="2400" spc="100">
                <a:latin typeface="Cambria"/>
                <a:cs typeface="Cambria"/>
              </a:rPr>
              <a:t> users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verify</a:t>
            </a:r>
            <a:r>
              <a:rPr dirty="0" sz="2400" spc="100">
                <a:latin typeface="Cambria"/>
                <a:cs typeface="Cambria"/>
              </a:rPr>
              <a:t> digital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50">
                <a:latin typeface="Cambria"/>
                <a:cs typeface="Cambria"/>
              </a:rPr>
              <a:t>media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reliability.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367680" y="1114082"/>
            <a:ext cx="6242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80">
                <a:latin typeface="Cambria"/>
                <a:cs typeface="Cambria"/>
              </a:rPr>
              <a:t>Image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88265">
              <a:lnSpc>
                <a:spcPts val="1240"/>
              </a:lnSpc>
            </a:pPr>
            <a:fld id="{81D60167-4931-47E6-BA6A-407CBD079E47}" type="slidenum">
              <a:rPr dirty="0" spc="-50" b="1">
                <a:latin typeface="Calibri"/>
                <a:cs typeface="Calibri"/>
              </a:rPr>
              <a:t>6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35"/>
              <a:t>PROPOSED</a:t>
            </a:r>
            <a:r>
              <a:rPr dirty="0" sz="4000" spc="-200"/>
              <a:t> </a:t>
            </a:r>
            <a:r>
              <a:rPr dirty="0" sz="4000" spc="-495"/>
              <a:t>SYSTEM</a:t>
            </a:r>
            <a:r>
              <a:rPr dirty="0" sz="4000" spc="-195"/>
              <a:t> </a:t>
            </a:r>
            <a:r>
              <a:rPr dirty="0" sz="4000" spc="-509"/>
              <a:t>ARCHITECTURE</a:t>
            </a:r>
            <a:endParaRPr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 descr=""/>
          <p:cNvSpPr txBox="1"/>
          <p:nvPr/>
        </p:nvSpPr>
        <p:spPr>
          <a:xfrm>
            <a:off x="11068545" y="6457553"/>
            <a:ext cx="18034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 b="1"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4337" rIns="0" bIns="0" rtlCol="0" vert="horz">
            <a:spAutoFit/>
          </a:bodyPr>
          <a:lstStyle/>
          <a:p>
            <a:pPr marL="450215">
              <a:lnSpc>
                <a:spcPct val="100000"/>
              </a:lnSpc>
              <a:spcBef>
                <a:spcPts val="95"/>
              </a:spcBef>
            </a:pPr>
            <a:r>
              <a:rPr dirty="0" spc="-625"/>
              <a:t>SOFTWARE</a:t>
            </a:r>
            <a:r>
              <a:rPr dirty="0" spc="-200"/>
              <a:t> </a:t>
            </a:r>
            <a:r>
              <a:rPr dirty="0" spc="-605"/>
              <a:t>AND</a:t>
            </a:r>
            <a:r>
              <a:rPr dirty="0" spc="-200"/>
              <a:t> </a:t>
            </a:r>
            <a:r>
              <a:rPr dirty="0" spc="-650"/>
              <a:t>HARDWARE</a:t>
            </a:r>
            <a:r>
              <a:rPr dirty="0" spc="-200"/>
              <a:t> </a:t>
            </a:r>
            <a:r>
              <a:rPr dirty="0" spc="-575"/>
              <a:t>REQUIREMENTS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05002" y="1839578"/>
            <a:ext cx="3607435" cy="1300480"/>
          </a:xfrm>
          <a:prstGeom prst="rect">
            <a:avLst/>
          </a:prstGeom>
        </p:spPr>
        <p:txBody>
          <a:bodyPr wrap="square" lIns="0" tIns="223520" rIns="0" bIns="0" rtlCol="0" vert="horz">
            <a:spAutoFit/>
          </a:bodyPr>
          <a:lstStyle/>
          <a:p>
            <a:pPr marL="1410970">
              <a:lnSpc>
                <a:spcPct val="100000"/>
              </a:lnSpc>
              <a:spcBef>
                <a:spcPts val="1760"/>
              </a:spcBef>
            </a:pPr>
            <a:r>
              <a:rPr dirty="0" sz="2800" spc="245" b="1">
                <a:latin typeface="Roboto"/>
                <a:cs typeface="Roboto"/>
              </a:rPr>
              <a:t>HARDWARE</a:t>
            </a:r>
            <a:endParaRPr sz="28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660"/>
              </a:spcBef>
            </a:pPr>
            <a:r>
              <a:rPr dirty="0" sz="2800" spc="55">
                <a:latin typeface="Cambria"/>
                <a:cs typeface="Cambria"/>
              </a:rPr>
              <a:t>1.</a:t>
            </a:r>
            <a:r>
              <a:rPr dirty="0" sz="2800" spc="155">
                <a:latin typeface="Cambria"/>
                <a:cs typeface="Cambria"/>
              </a:rPr>
              <a:t> </a:t>
            </a:r>
            <a:r>
              <a:rPr dirty="0" sz="2400" spc="145">
                <a:latin typeface="Cambria"/>
                <a:cs typeface="Cambria"/>
              </a:rPr>
              <a:t>GPU-</a:t>
            </a:r>
            <a:r>
              <a:rPr dirty="0" sz="2400" spc="100">
                <a:latin typeface="Cambria"/>
                <a:cs typeface="Cambria"/>
              </a:rPr>
              <a:t>enabled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system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05002" y="3452701"/>
            <a:ext cx="277685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60">
                <a:latin typeface="Cambria"/>
                <a:cs typeface="Cambria"/>
              </a:rPr>
              <a:t>2.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65">
                <a:latin typeface="Cambria"/>
                <a:cs typeface="Cambria"/>
              </a:rPr>
              <a:t>Min.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16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75">
                <a:latin typeface="Cambria"/>
                <a:cs typeface="Cambria"/>
              </a:rPr>
              <a:t>GB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40">
                <a:latin typeface="Cambria"/>
                <a:cs typeface="Cambria"/>
              </a:rPr>
              <a:t>RAM.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05002" y="4128272"/>
            <a:ext cx="3745229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60">
                <a:latin typeface="Cambria"/>
                <a:cs typeface="Cambria"/>
              </a:rPr>
              <a:t>3.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High-</a:t>
            </a:r>
            <a:r>
              <a:rPr dirty="0" sz="2400" spc="105">
                <a:latin typeface="Cambria"/>
                <a:cs typeface="Cambria"/>
              </a:rPr>
              <a:t>speed </a:t>
            </a:r>
            <a:r>
              <a:rPr dirty="0" sz="2400" spc="114">
                <a:latin typeface="Cambria"/>
                <a:cs typeface="Cambria"/>
              </a:rPr>
              <a:t>SSD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storage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05002" y="4803843"/>
            <a:ext cx="373951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60">
                <a:latin typeface="Cambria"/>
                <a:cs typeface="Cambria"/>
              </a:rPr>
              <a:t>4.</a:t>
            </a:r>
            <a:r>
              <a:rPr dirty="0" sz="2400" spc="180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64-bit</a:t>
            </a:r>
            <a:r>
              <a:rPr dirty="0" sz="2400" spc="175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operating</a:t>
            </a:r>
            <a:r>
              <a:rPr dirty="0" sz="2400" spc="18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system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223520" rIns="0" bIns="0" rtlCol="0" vert="horz">
            <a:spAutoFit/>
          </a:bodyPr>
          <a:lstStyle/>
          <a:p>
            <a:pPr algn="ctr" marL="813435">
              <a:lnSpc>
                <a:spcPct val="100000"/>
              </a:lnSpc>
              <a:spcBef>
                <a:spcPts val="1760"/>
              </a:spcBef>
            </a:pPr>
            <a:r>
              <a:rPr dirty="0" spc="190"/>
              <a:t>SOFTWARE</a:t>
            </a:r>
          </a:p>
          <a:p>
            <a:pPr marL="12700" marR="8255">
              <a:lnSpc>
                <a:spcPts val="4650"/>
              </a:lnSpc>
              <a:spcBef>
                <a:spcPts val="740"/>
              </a:spcBef>
            </a:pPr>
            <a:r>
              <a:rPr dirty="0" spc="80" b="0">
                <a:latin typeface="Cambria"/>
                <a:cs typeface="Cambria"/>
              </a:rPr>
              <a:t>1</a:t>
            </a:r>
            <a:r>
              <a:rPr dirty="0" sz="2400" spc="80" b="0">
                <a:latin typeface="Cambria"/>
                <a:cs typeface="Cambria"/>
              </a:rPr>
              <a:t>.</a:t>
            </a:r>
            <a:r>
              <a:rPr dirty="0" sz="2400" spc="110" b="0">
                <a:latin typeface="Cambria"/>
                <a:cs typeface="Cambria"/>
              </a:rPr>
              <a:t> </a:t>
            </a:r>
            <a:r>
              <a:rPr dirty="0" sz="2400" spc="145" b="0">
                <a:latin typeface="Cambria"/>
                <a:cs typeface="Cambria"/>
              </a:rPr>
              <a:t>Programming</a:t>
            </a:r>
            <a:r>
              <a:rPr dirty="0" sz="2400" spc="114" b="0">
                <a:latin typeface="Cambria"/>
                <a:cs typeface="Cambria"/>
              </a:rPr>
              <a:t> </a:t>
            </a:r>
            <a:r>
              <a:rPr dirty="0" sz="2400" spc="135" b="0">
                <a:latin typeface="Cambria"/>
                <a:cs typeface="Cambria"/>
              </a:rPr>
              <a:t>Language:</a:t>
            </a:r>
            <a:r>
              <a:rPr dirty="0" sz="2400" spc="110" b="0">
                <a:latin typeface="Cambria"/>
                <a:cs typeface="Cambria"/>
              </a:rPr>
              <a:t> Python </a:t>
            </a:r>
            <a:r>
              <a:rPr dirty="0" sz="2400" spc="-10" b="0">
                <a:latin typeface="Cambria"/>
                <a:cs typeface="Cambria"/>
              </a:rPr>
              <a:t>3.10+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400" spc="60" b="0">
                <a:latin typeface="Cambria"/>
                <a:cs typeface="Cambria"/>
              </a:rPr>
              <a:t>2.</a:t>
            </a:r>
            <a:r>
              <a:rPr dirty="0" sz="2400" spc="100" b="0">
                <a:latin typeface="Cambria"/>
                <a:cs typeface="Cambria"/>
              </a:rPr>
              <a:t> </a:t>
            </a:r>
            <a:r>
              <a:rPr dirty="0" sz="2400" spc="120" b="0">
                <a:latin typeface="Cambria"/>
                <a:cs typeface="Cambria"/>
              </a:rPr>
              <a:t>Frameworks:</a:t>
            </a:r>
            <a:r>
              <a:rPr dirty="0" sz="2400" spc="100" b="0">
                <a:latin typeface="Cambria"/>
                <a:cs typeface="Cambria"/>
              </a:rPr>
              <a:t> </a:t>
            </a:r>
            <a:r>
              <a:rPr dirty="0" sz="2400" spc="90" b="0">
                <a:latin typeface="Cambria"/>
                <a:cs typeface="Cambria"/>
              </a:rPr>
              <a:t>TensorFlow,</a:t>
            </a:r>
            <a:r>
              <a:rPr dirty="0" sz="2400" spc="100" b="0">
                <a:latin typeface="Cambria"/>
                <a:cs typeface="Cambria"/>
              </a:rPr>
              <a:t> </a:t>
            </a:r>
            <a:r>
              <a:rPr dirty="0" sz="2400" spc="90" b="0">
                <a:latin typeface="Cambria"/>
                <a:cs typeface="Cambria"/>
              </a:rPr>
              <a:t>Keras,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dirty="0" sz="2400" spc="105" b="0">
                <a:latin typeface="Cambria"/>
                <a:cs typeface="Cambria"/>
              </a:rPr>
              <a:t>OpenCV, </a:t>
            </a:r>
            <a:r>
              <a:rPr dirty="0" sz="2400" spc="114" b="0">
                <a:latin typeface="Cambria"/>
                <a:cs typeface="Cambria"/>
              </a:rPr>
              <a:t>NumPy,</a:t>
            </a:r>
            <a:r>
              <a:rPr dirty="0" sz="2400" spc="110" b="0">
                <a:latin typeface="Cambria"/>
                <a:cs typeface="Cambria"/>
              </a:rPr>
              <a:t> </a:t>
            </a:r>
            <a:r>
              <a:rPr dirty="0" sz="2400" spc="95" b="0">
                <a:latin typeface="Cambria"/>
                <a:cs typeface="Cambria"/>
              </a:rPr>
              <a:t>Streamlit.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991483" y="5108325"/>
            <a:ext cx="220281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60">
                <a:latin typeface="Cambria"/>
                <a:cs typeface="Cambria"/>
              </a:rPr>
              <a:t>5.</a:t>
            </a:r>
            <a:r>
              <a:rPr dirty="0" sz="2400" spc="95">
                <a:latin typeface="Cambria"/>
                <a:cs typeface="Cambria"/>
              </a:rPr>
              <a:t> IDE: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VS</a:t>
            </a:r>
            <a:r>
              <a:rPr dirty="0" sz="2400" spc="95">
                <a:latin typeface="Cambria"/>
                <a:cs typeface="Cambria"/>
              </a:rPr>
              <a:t> Code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5" b="1">
                <a:latin typeface="Calibri"/>
                <a:cs typeface="Calibri"/>
              </a:rPr>
              <a:t>1</a:t>
            </a:r>
            <a:r>
              <a:rPr dirty="0" spc="-25" b="1">
                <a:latin typeface="Calibri"/>
                <a:cs typeface="Calibri"/>
              </a:rPr>
              <a:t>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80582" rIns="0" bIns="0" rtlCol="0" vert="horz">
            <a:spAutoFit/>
          </a:bodyPr>
          <a:lstStyle/>
          <a:p>
            <a:pPr marL="4235450">
              <a:lnSpc>
                <a:spcPct val="100000"/>
              </a:lnSpc>
              <a:spcBef>
                <a:spcPts val="105"/>
              </a:spcBef>
            </a:pPr>
            <a:r>
              <a:rPr dirty="0" sz="3950" spc="-520"/>
              <a:t>MODULES</a:t>
            </a:r>
            <a:endParaRPr sz="3950"/>
          </a:p>
        </p:txBody>
      </p:sp>
      <p:sp>
        <p:nvSpPr>
          <p:cNvPr id="3" name="object 3" descr=""/>
          <p:cNvSpPr txBox="1"/>
          <p:nvPr/>
        </p:nvSpPr>
        <p:spPr>
          <a:xfrm>
            <a:off x="915956" y="1356182"/>
            <a:ext cx="3530600" cy="2785110"/>
          </a:xfrm>
          <a:prstGeom prst="rect">
            <a:avLst/>
          </a:prstGeom>
        </p:spPr>
        <p:txBody>
          <a:bodyPr wrap="square" lIns="0" tIns="198755" rIns="0" bIns="0" rtlCol="0" vert="horz">
            <a:spAutoFit/>
          </a:bodyPr>
          <a:lstStyle/>
          <a:p>
            <a:pPr marL="336550" indent="-323850">
              <a:lnSpc>
                <a:spcPct val="100000"/>
              </a:lnSpc>
              <a:spcBef>
                <a:spcPts val="1565"/>
              </a:spcBef>
              <a:buAutoNum type="arabicPeriod"/>
              <a:tabLst>
                <a:tab pos="336550" algn="l"/>
              </a:tabLst>
            </a:pPr>
            <a:r>
              <a:rPr dirty="0" sz="2400" spc="130">
                <a:latin typeface="Cambria"/>
                <a:cs typeface="Cambria"/>
              </a:rPr>
              <a:t>Input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Acquisition</a:t>
            </a:r>
            <a:endParaRPr sz="24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spcBef>
                <a:spcPts val="1465"/>
              </a:spcBef>
              <a:buAutoNum type="arabicPeriod"/>
              <a:tabLst>
                <a:tab pos="336550" algn="l"/>
              </a:tabLst>
            </a:pPr>
            <a:r>
              <a:rPr dirty="0" sz="2400" spc="90">
                <a:latin typeface="Cambria"/>
                <a:cs typeface="Cambria"/>
              </a:rPr>
              <a:t>Preprocessing</a:t>
            </a:r>
            <a:endParaRPr sz="24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spcBef>
                <a:spcPts val="1465"/>
              </a:spcBef>
              <a:buAutoNum type="arabicPeriod"/>
              <a:tabLst>
                <a:tab pos="336550" algn="l"/>
              </a:tabLst>
            </a:pPr>
            <a:r>
              <a:rPr dirty="0" sz="2400" spc="105">
                <a:latin typeface="Cambria"/>
                <a:cs typeface="Cambria"/>
              </a:rPr>
              <a:t>Feature</a:t>
            </a:r>
            <a:r>
              <a:rPr dirty="0" sz="2400" spc="100">
                <a:latin typeface="Cambria"/>
                <a:cs typeface="Cambria"/>
              </a:rPr>
              <a:t> Extraction</a:t>
            </a:r>
            <a:endParaRPr sz="24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spcBef>
                <a:spcPts val="1465"/>
              </a:spcBef>
              <a:buAutoNum type="arabicPeriod"/>
              <a:tabLst>
                <a:tab pos="336550" algn="l"/>
              </a:tabLst>
            </a:pPr>
            <a:r>
              <a:rPr dirty="0" sz="2400" spc="105">
                <a:latin typeface="Cambria"/>
                <a:cs typeface="Cambria"/>
              </a:rPr>
              <a:t>Classification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Model</a:t>
            </a:r>
            <a:endParaRPr sz="2400">
              <a:latin typeface="Cambria"/>
              <a:cs typeface="Cambria"/>
            </a:endParaRPr>
          </a:p>
          <a:p>
            <a:pPr marL="336550" indent="-323850">
              <a:lnSpc>
                <a:spcPct val="100000"/>
              </a:lnSpc>
              <a:spcBef>
                <a:spcPts val="1465"/>
              </a:spcBef>
              <a:buAutoNum type="arabicPeriod"/>
              <a:tabLst>
                <a:tab pos="336550" algn="l"/>
              </a:tabLst>
            </a:pPr>
            <a:r>
              <a:rPr dirty="0" sz="2400" spc="85">
                <a:latin typeface="Cambria"/>
                <a:cs typeface="Cambria"/>
              </a:rPr>
              <a:t>Result</a:t>
            </a:r>
            <a:r>
              <a:rPr dirty="0" sz="2400" spc="9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&amp;</a:t>
            </a:r>
            <a:r>
              <a:rPr dirty="0" sz="2400" spc="95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Visualization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7896" y="331745"/>
            <a:ext cx="10424160" cy="6286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950" spc="-495"/>
              <a:t>IMPLEMENTATION</a:t>
            </a:r>
            <a:r>
              <a:rPr dirty="0" sz="3950" spc="-190"/>
              <a:t> </a:t>
            </a:r>
            <a:r>
              <a:rPr dirty="0" sz="3950" spc="-495"/>
              <a:t>OF</a:t>
            </a:r>
            <a:r>
              <a:rPr dirty="0" sz="3950" spc="-180"/>
              <a:t> </a:t>
            </a:r>
            <a:r>
              <a:rPr dirty="0" sz="3950" spc="-430"/>
              <a:t>INPUT</a:t>
            </a:r>
            <a:r>
              <a:rPr dirty="0" sz="3950" spc="-180"/>
              <a:t> </a:t>
            </a:r>
            <a:r>
              <a:rPr dirty="0" sz="3950" spc="-425"/>
              <a:t>ACQUISITION</a:t>
            </a:r>
            <a:r>
              <a:rPr dirty="0" sz="3950" spc="-175"/>
              <a:t> </a:t>
            </a:r>
            <a:r>
              <a:rPr dirty="0" sz="3950" spc="-525"/>
              <a:t>MODULE</a:t>
            </a:r>
            <a:endParaRPr sz="3950"/>
          </a:p>
        </p:txBody>
      </p:sp>
      <p:sp>
        <p:nvSpPr>
          <p:cNvPr id="3" name="object 3" descr=""/>
          <p:cNvSpPr txBox="1"/>
          <p:nvPr/>
        </p:nvSpPr>
        <p:spPr>
          <a:xfrm>
            <a:off x="1030136" y="1256005"/>
            <a:ext cx="10231120" cy="160909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 indent="378460">
              <a:lnSpc>
                <a:spcPts val="2850"/>
              </a:lnSpc>
              <a:spcBef>
                <a:spcPts val="215"/>
              </a:spcBef>
              <a:buAutoNum type="arabicPeriod"/>
              <a:tabLst>
                <a:tab pos="391160" algn="l"/>
                <a:tab pos="1074420" algn="l"/>
                <a:tab pos="3278504" algn="l"/>
                <a:tab pos="4190365" algn="l"/>
                <a:tab pos="4607560" algn="l"/>
                <a:tab pos="5747385" algn="l"/>
                <a:tab pos="6249670" algn="l"/>
                <a:tab pos="7275830" algn="l"/>
                <a:tab pos="8880475" algn="l"/>
              </a:tabLst>
            </a:pPr>
            <a:r>
              <a:rPr dirty="0" sz="2400" spc="80">
                <a:latin typeface="Cambria"/>
                <a:cs typeface="Cambria"/>
              </a:rPr>
              <a:t>The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5">
                <a:latin typeface="Cambria"/>
                <a:cs typeface="Cambria"/>
              </a:rPr>
              <a:t>system</a:t>
            </a:r>
            <a:r>
              <a:rPr dirty="0" sz="2400" spc="480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allows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0">
                <a:latin typeface="Cambria"/>
                <a:cs typeface="Cambria"/>
              </a:rPr>
              <a:t>users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35">
                <a:latin typeface="Cambria"/>
                <a:cs typeface="Cambria"/>
              </a:rPr>
              <a:t>to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20">
                <a:latin typeface="Cambria"/>
                <a:cs typeface="Cambria"/>
              </a:rPr>
              <a:t>upload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60">
                <a:latin typeface="Cambria"/>
                <a:cs typeface="Cambria"/>
              </a:rPr>
              <a:t>an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30">
                <a:latin typeface="Cambria"/>
                <a:cs typeface="Cambria"/>
              </a:rPr>
              <a:t>image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25">
                <a:latin typeface="Cambria"/>
                <a:cs typeface="Cambria"/>
              </a:rPr>
              <a:t>through</a:t>
            </a:r>
            <a:r>
              <a:rPr dirty="0" sz="2400" spc="459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a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5">
                <a:latin typeface="Cambria"/>
                <a:cs typeface="Cambria"/>
              </a:rPr>
              <a:t>Streamlit </a:t>
            </a:r>
            <a:r>
              <a:rPr dirty="0" sz="2400" spc="145">
                <a:latin typeface="Cambria"/>
                <a:cs typeface="Cambria"/>
              </a:rPr>
              <a:t>web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interface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to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75">
                <a:latin typeface="Cambria"/>
                <a:cs typeface="Cambria"/>
              </a:rPr>
              <a:t>start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the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deepfake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detection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process.</a:t>
            </a:r>
            <a:endParaRPr sz="2400">
              <a:latin typeface="Cambria"/>
              <a:cs typeface="Cambria"/>
            </a:endParaRPr>
          </a:p>
          <a:p>
            <a:pPr marL="12700" marR="6350" indent="401955">
              <a:lnSpc>
                <a:spcPct val="101499"/>
              </a:lnSpc>
              <a:spcBef>
                <a:spcPts val="805"/>
              </a:spcBef>
              <a:buAutoNum type="arabicPeriod"/>
              <a:tabLst>
                <a:tab pos="414655" algn="l"/>
                <a:tab pos="1121410" algn="l"/>
                <a:tab pos="2626995" algn="l"/>
                <a:tab pos="3248025" algn="l"/>
                <a:tab pos="3641090" algn="l"/>
                <a:tab pos="5156835" algn="l"/>
                <a:tab pos="5872480" algn="l"/>
                <a:tab pos="7007859" algn="l"/>
                <a:tab pos="7743190" algn="l"/>
                <a:tab pos="8354695" algn="l"/>
                <a:tab pos="9784080" algn="l"/>
              </a:tabLst>
            </a:pPr>
            <a:r>
              <a:rPr dirty="0" sz="2400" spc="75">
                <a:latin typeface="Cambria"/>
                <a:cs typeface="Cambria"/>
              </a:rPr>
              <a:t>The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20">
                <a:latin typeface="Cambria"/>
                <a:cs typeface="Cambria"/>
              </a:rPr>
              <a:t>uploaded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75">
                <a:latin typeface="Cambria"/>
                <a:cs typeface="Cambria"/>
              </a:rPr>
              <a:t>file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30">
                <a:latin typeface="Cambria"/>
                <a:cs typeface="Cambria"/>
              </a:rPr>
              <a:t>is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5">
                <a:latin typeface="Cambria"/>
                <a:cs typeface="Cambria"/>
              </a:rPr>
              <a:t>validated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40">
                <a:latin typeface="Cambria"/>
                <a:cs typeface="Cambria"/>
              </a:rPr>
              <a:t>and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5">
                <a:latin typeface="Cambria"/>
                <a:cs typeface="Cambria"/>
              </a:rPr>
              <a:t>loaded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0">
                <a:latin typeface="Cambria"/>
                <a:cs typeface="Cambria"/>
              </a:rPr>
              <a:t>into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85">
                <a:latin typeface="Cambria"/>
                <a:cs typeface="Cambria"/>
              </a:rPr>
              <a:t>the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20">
                <a:latin typeface="Cambria"/>
                <a:cs typeface="Cambria"/>
              </a:rPr>
              <a:t>program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0">
                <a:latin typeface="Cambria"/>
                <a:cs typeface="Cambria"/>
              </a:rPr>
              <a:t>for </a:t>
            </a:r>
            <a:r>
              <a:rPr dirty="0" sz="2400" spc="130">
                <a:latin typeface="Cambria"/>
                <a:cs typeface="Cambria"/>
              </a:rPr>
              <a:t>further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analysis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using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the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trained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model.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2094" y="4042023"/>
            <a:ext cx="4813670" cy="211429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5" b="1">
                <a:latin typeface="Calibri"/>
                <a:cs typeface="Calibri"/>
              </a:rPr>
              <a:t>1</a:t>
            </a:r>
            <a:r>
              <a:rPr dirty="0" spc="-25" b="1">
                <a:latin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5" b="1">
                <a:latin typeface="Calibri"/>
                <a:cs typeface="Calibri"/>
              </a:rPr>
              <a:t>1</a:t>
            </a:r>
            <a:r>
              <a:rPr dirty="0" spc="-25" b="1">
                <a:latin typeface="Calibri"/>
                <a:cs typeface="Calibri"/>
              </a:rPr>
              <a:t>3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1058682" y="1320019"/>
            <a:ext cx="10198100" cy="4260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0690" marR="321310" indent="-428625">
              <a:lnSpc>
                <a:spcPct val="150900"/>
              </a:lnSpc>
              <a:spcBef>
                <a:spcPts val="100"/>
              </a:spcBef>
              <a:buSzPct val="75000"/>
              <a:buFont typeface="Arial MT"/>
              <a:buAutoNum type="arabicPeriod"/>
              <a:tabLst>
                <a:tab pos="440690" algn="l"/>
              </a:tabLst>
            </a:pPr>
            <a:r>
              <a:rPr dirty="0" sz="2400" spc="100">
                <a:latin typeface="Cambria"/>
                <a:cs typeface="Cambria"/>
              </a:rPr>
              <a:t>The </a:t>
            </a:r>
            <a:r>
              <a:rPr dirty="0" sz="2400" spc="130">
                <a:latin typeface="Cambria"/>
                <a:cs typeface="Cambria"/>
              </a:rPr>
              <a:t>input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45">
                <a:latin typeface="Cambria"/>
                <a:cs typeface="Cambria"/>
              </a:rPr>
              <a:t>image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is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converted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into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standardized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dimension(96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70">
                <a:latin typeface="Cambria"/>
                <a:cs typeface="Cambria"/>
              </a:rPr>
              <a:t>x </a:t>
            </a:r>
            <a:r>
              <a:rPr dirty="0" sz="2400">
                <a:latin typeface="Cambria"/>
                <a:cs typeface="Cambria"/>
              </a:rPr>
              <a:t>96</a:t>
            </a:r>
            <a:r>
              <a:rPr dirty="0" sz="2400" spc="90">
                <a:latin typeface="Cambria"/>
                <a:cs typeface="Cambria"/>
              </a:rPr>
              <a:t> </a:t>
            </a:r>
            <a:r>
              <a:rPr dirty="0" sz="2400" spc="220">
                <a:latin typeface="Cambria"/>
                <a:cs typeface="Cambria"/>
              </a:rPr>
              <a:t>x</a:t>
            </a:r>
            <a:r>
              <a:rPr dirty="0" sz="2400" spc="95">
                <a:latin typeface="Cambria"/>
                <a:cs typeface="Cambria"/>
              </a:rPr>
              <a:t> </a:t>
            </a:r>
            <a:r>
              <a:rPr dirty="0" sz="2400">
                <a:latin typeface="Cambria"/>
                <a:cs typeface="Cambria"/>
              </a:rPr>
              <a:t>3)</a:t>
            </a:r>
            <a:r>
              <a:rPr dirty="0" sz="2400" spc="95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required</a:t>
            </a:r>
            <a:r>
              <a:rPr dirty="0" sz="2400" spc="9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by</a:t>
            </a:r>
            <a:r>
              <a:rPr dirty="0" sz="2400" spc="95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the</a:t>
            </a:r>
            <a:r>
              <a:rPr dirty="0" sz="2400" spc="95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deep</a:t>
            </a:r>
            <a:r>
              <a:rPr dirty="0" sz="2400" spc="95">
                <a:latin typeface="Cambria"/>
                <a:cs typeface="Cambria"/>
              </a:rPr>
              <a:t> </a:t>
            </a:r>
            <a:r>
              <a:rPr dirty="0" sz="2400" spc="135">
                <a:latin typeface="Cambria"/>
                <a:cs typeface="Cambria"/>
              </a:rPr>
              <a:t>learning</a:t>
            </a:r>
            <a:r>
              <a:rPr dirty="0" sz="2400" spc="95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model.</a:t>
            </a:r>
            <a:endParaRPr sz="2400">
              <a:latin typeface="Cambria"/>
              <a:cs typeface="Cambria"/>
            </a:endParaRPr>
          </a:p>
          <a:p>
            <a:pPr marL="440690" indent="-427990">
              <a:lnSpc>
                <a:spcPct val="100000"/>
              </a:lnSpc>
              <a:spcBef>
                <a:spcPts val="2440"/>
              </a:spcBef>
              <a:buSzPct val="75000"/>
              <a:buFont typeface="Arial MT"/>
              <a:buAutoNum type="arabicPeriod"/>
              <a:tabLst>
                <a:tab pos="440690" algn="l"/>
              </a:tabLst>
            </a:pPr>
            <a:r>
              <a:rPr dirty="0" sz="2400" spc="120">
                <a:latin typeface="Cambria"/>
                <a:cs typeface="Cambria"/>
              </a:rPr>
              <a:t>Pixel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values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are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40">
                <a:latin typeface="Cambria"/>
                <a:cs typeface="Cambria"/>
              </a:rPr>
              <a:t>normalized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to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45">
                <a:latin typeface="Cambria"/>
                <a:cs typeface="Cambria"/>
              </a:rPr>
              <a:t>improve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classification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performance.</a:t>
            </a:r>
            <a:endParaRPr sz="2400">
              <a:latin typeface="Cambria"/>
              <a:cs typeface="Cambria"/>
            </a:endParaRPr>
          </a:p>
          <a:p>
            <a:pPr marL="440690" marR="5080" indent="-428625">
              <a:lnSpc>
                <a:spcPct val="150900"/>
              </a:lnSpc>
              <a:spcBef>
                <a:spcPts val="969"/>
              </a:spcBef>
              <a:buSzPct val="75000"/>
              <a:buFont typeface="Arial MT"/>
              <a:buAutoNum type="arabicPeriod"/>
              <a:tabLst>
                <a:tab pos="440690" algn="l"/>
                <a:tab pos="1178560" algn="l"/>
                <a:tab pos="2249170" algn="l"/>
                <a:tab pos="2673350" algn="l"/>
                <a:tab pos="4324985" algn="l"/>
                <a:tab pos="5091430" algn="l"/>
                <a:tab pos="6066790" algn="l"/>
                <a:tab pos="6976109" algn="l"/>
                <a:tab pos="8313420" algn="l"/>
                <a:tab pos="8928100" algn="l"/>
              </a:tabLst>
            </a:pPr>
            <a:r>
              <a:rPr dirty="0" sz="2400" spc="75">
                <a:latin typeface="Cambria"/>
                <a:cs typeface="Cambria"/>
              </a:rPr>
              <a:t>The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35">
                <a:latin typeface="Cambria"/>
                <a:cs typeface="Cambria"/>
              </a:rPr>
              <a:t>image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40">
                <a:latin typeface="Cambria"/>
                <a:cs typeface="Cambria"/>
              </a:rPr>
              <a:t>is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5">
                <a:latin typeface="Cambria"/>
                <a:cs typeface="Cambria"/>
              </a:rPr>
              <a:t>converted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0">
                <a:latin typeface="Cambria"/>
                <a:cs typeface="Cambria"/>
              </a:rPr>
              <a:t>into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14">
                <a:latin typeface="Cambria"/>
                <a:cs typeface="Cambria"/>
              </a:rPr>
              <a:t>array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40">
                <a:latin typeface="Cambria"/>
                <a:cs typeface="Cambria"/>
              </a:rPr>
              <a:t>form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0">
                <a:latin typeface="Cambria"/>
                <a:cs typeface="Cambria"/>
              </a:rPr>
              <a:t>suitable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0">
                <a:latin typeface="Cambria"/>
                <a:cs typeface="Cambria"/>
              </a:rPr>
              <a:t>for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50">
                <a:latin typeface="Cambria"/>
                <a:cs typeface="Cambria"/>
              </a:rPr>
              <a:t>Machine </a:t>
            </a:r>
            <a:r>
              <a:rPr dirty="0" sz="2400" spc="145">
                <a:latin typeface="Cambria"/>
                <a:cs typeface="Cambria"/>
              </a:rPr>
              <a:t>Learning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processing.</a:t>
            </a:r>
            <a:endParaRPr sz="2400">
              <a:latin typeface="Cambria"/>
              <a:cs typeface="Cambria"/>
            </a:endParaRPr>
          </a:p>
          <a:p>
            <a:pPr marL="440690" marR="1008380" indent="-428625">
              <a:lnSpc>
                <a:spcPct val="150900"/>
              </a:lnSpc>
              <a:spcBef>
                <a:spcPts val="975"/>
              </a:spcBef>
              <a:buSzPct val="75000"/>
              <a:buFont typeface="Arial MT"/>
              <a:buAutoNum type="arabicPeriod"/>
              <a:tabLst>
                <a:tab pos="440690" algn="l"/>
              </a:tabLst>
            </a:pPr>
            <a:r>
              <a:rPr dirty="0" sz="2400" spc="105">
                <a:latin typeface="Cambria"/>
                <a:cs typeface="Cambria"/>
              </a:rPr>
              <a:t>Basic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filtering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ensures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the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input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is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clear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45">
                <a:latin typeface="Cambria"/>
                <a:cs typeface="Cambria"/>
              </a:rPr>
              <a:t>image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with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valid </a:t>
            </a:r>
            <a:r>
              <a:rPr dirty="0" sz="2400" spc="135">
                <a:latin typeface="Cambria"/>
                <a:cs typeface="Cambria"/>
              </a:rPr>
              <a:t>format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before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prediction.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06258" y="331745"/>
            <a:ext cx="9966960" cy="6286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950" spc="-495"/>
              <a:t>IMPLEMENTATION</a:t>
            </a:r>
            <a:r>
              <a:rPr dirty="0" sz="3950" spc="-180"/>
              <a:t> </a:t>
            </a:r>
            <a:r>
              <a:rPr dirty="0" sz="3950" spc="-495"/>
              <a:t>OF</a:t>
            </a:r>
            <a:r>
              <a:rPr dirty="0" sz="3950" spc="-170"/>
              <a:t> </a:t>
            </a:r>
            <a:r>
              <a:rPr dirty="0" sz="3950" spc="-480"/>
              <a:t>PREPROCESSING</a:t>
            </a:r>
            <a:r>
              <a:rPr dirty="0" sz="3950" spc="-170"/>
              <a:t> </a:t>
            </a:r>
            <a:r>
              <a:rPr dirty="0" sz="3950" spc="-525"/>
              <a:t>MODULE</a:t>
            </a:r>
            <a:endParaRPr sz="39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5" b="1">
                <a:latin typeface="Calibri"/>
                <a:cs typeface="Calibri"/>
              </a:rPr>
              <a:t>1</a:t>
            </a:r>
            <a:r>
              <a:rPr dirty="0" spc="-25" b="1">
                <a:latin typeface="Calibri"/>
                <a:cs typeface="Calibri"/>
              </a:rPr>
              <a:t>4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966182" y="1429412"/>
            <a:ext cx="10205720" cy="4812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0690" marR="1113155" indent="-428625">
              <a:lnSpc>
                <a:spcPct val="150900"/>
              </a:lnSpc>
              <a:spcBef>
                <a:spcPts val="100"/>
              </a:spcBef>
              <a:buSzPct val="75000"/>
              <a:buFont typeface="Arial MT"/>
              <a:buAutoNum type="arabicPeriod"/>
              <a:tabLst>
                <a:tab pos="440690" algn="l"/>
              </a:tabLst>
            </a:pPr>
            <a:r>
              <a:rPr dirty="0" sz="2400" spc="180">
                <a:latin typeface="Cambria"/>
                <a:cs typeface="Cambria"/>
              </a:rPr>
              <a:t>A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pre-</a:t>
            </a:r>
            <a:r>
              <a:rPr dirty="0" sz="2400" spc="110">
                <a:latin typeface="Cambria"/>
                <a:cs typeface="Cambria"/>
              </a:rPr>
              <a:t>trained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Convolutional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35">
                <a:latin typeface="Cambria"/>
                <a:cs typeface="Cambria"/>
              </a:rPr>
              <a:t>Neural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Network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(CNN)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extracts </a:t>
            </a:r>
            <a:r>
              <a:rPr dirty="0" sz="2400" spc="160">
                <a:latin typeface="Cambria"/>
                <a:cs typeface="Cambria"/>
              </a:rPr>
              <a:t>meaningful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05">
                <a:latin typeface="Cambria"/>
                <a:cs typeface="Cambria"/>
              </a:rPr>
              <a:t>patterns </a:t>
            </a:r>
            <a:r>
              <a:rPr dirty="0" sz="2400" spc="160">
                <a:latin typeface="Cambria"/>
                <a:cs typeface="Cambria"/>
              </a:rPr>
              <a:t>from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the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image.</a:t>
            </a:r>
            <a:endParaRPr sz="2400">
              <a:latin typeface="Cambria"/>
              <a:cs typeface="Cambria"/>
            </a:endParaRPr>
          </a:p>
          <a:p>
            <a:pPr marL="440690" marR="5080" indent="-428625">
              <a:lnSpc>
                <a:spcPct val="150900"/>
              </a:lnSpc>
              <a:spcBef>
                <a:spcPts val="969"/>
              </a:spcBef>
              <a:buSzPct val="75000"/>
              <a:buFont typeface="Arial MT"/>
              <a:buAutoNum type="arabicPeriod"/>
              <a:tabLst>
                <a:tab pos="440690" algn="l"/>
                <a:tab pos="1693545" algn="l"/>
                <a:tab pos="2766060" algn="l"/>
                <a:tab pos="4076700" algn="l"/>
                <a:tab pos="5767705" algn="l"/>
                <a:tab pos="7439659" algn="l"/>
                <a:tab pos="8207375" algn="l"/>
                <a:tab pos="9023350" algn="l"/>
              </a:tabLst>
            </a:pPr>
            <a:r>
              <a:rPr dirty="0" sz="2400" spc="140">
                <a:latin typeface="Cambria"/>
                <a:cs typeface="Cambria"/>
              </a:rPr>
              <a:t>Hidden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0">
                <a:latin typeface="Cambria"/>
                <a:cs typeface="Cambria"/>
              </a:rPr>
              <a:t>layers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10">
                <a:latin typeface="Cambria"/>
                <a:cs typeface="Cambria"/>
              </a:rPr>
              <a:t>capture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5">
                <a:latin typeface="Cambria"/>
                <a:cs typeface="Cambria"/>
              </a:rPr>
              <a:t>pixel-</a:t>
            </a:r>
            <a:r>
              <a:rPr dirty="0" sz="2400" spc="95">
                <a:latin typeface="Cambria"/>
                <a:cs typeface="Cambria"/>
              </a:rPr>
              <a:t>level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10">
                <a:latin typeface="Cambria"/>
                <a:cs typeface="Cambria"/>
              </a:rPr>
              <a:t>variations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80">
                <a:latin typeface="Cambria"/>
                <a:cs typeface="Cambria"/>
              </a:rPr>
              <a:t>that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40">
                <a:latin typeface="Cambria"/>
                <a:cs typeface="Cambria"/>
              </a:rPr>
              <a:t>may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0">
                <a:latin typeface="Cambria"/>
                <a:cs typeface="Cambria"/>
              </a:rPr>
              <a:t>indicate </a:t>
            </a:r>
            <a:r>
              <a:rPr dirty="0" sz="2400" spc="145">
                <a:latin typeface="Cambria"/>
                <a:cs typeface="Cambria"/>
              </a:rPr>
              <a:t>image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manipulation.</a:t>
            </a:r>
            <a:endParaRPr sz="2400">
              <a:latin typeface="Cambria"/>
              <a:cs typeface="Cambria"/>
            </a:endParaRPr>
          </a:p>
          <a:p>
            <a:pPr marL="440690" marR="1358265" indent="-428625">
              <a:lnSpc>
                <a:spcPct val="150900"/>
              </a:lnSpc>
              <a:spcBef>
                <a:spcPts val="975"/>
              </a:spcBef>
              <a:buSzPct val="75000"/>
              <a:buFont typeface="Arial MT"/>
              <a:buAutoNum type="arabicPeriod"/>
              <a:tabLst>
                <a:tab pos="440690" algn="l"/>
              </a:tabLst>
            </a:pPr>
            <a:r>
              <a:rPr dirty="0" sz="2400" spc="100">
                <a:latin typeface="Cambria"/>
                <a:cs typeface="Cambria"/>
              </a:rPr>
              <a:t>The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40">
                <a:latin typeface="Cambria"/>
                <a:cs typeface="Cambria"/>
              </a:rPr>
              <a:t>model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learns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differences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between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real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65">
                <a:latin typeface="Cambria"/>
                <a:cs typeface="Cambria"/>
              </a:rPr>
              <a:t>and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fake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facial </a:t>
            </a:r>
            <a:r>
              <a:rPr dirty="0" sz="2400" spc="95">
                <a:latin typeface="Cambria"/>
                <a:cs typeface="Cambria"/>
              </a:rPr>
              <a:t>textures.</a:t>
            </a:r>
            <a:endParaRPr sz="2400">
              <a:latin typeface="Cambria"/>
              <a:cs typeface="Cambria"/>
            </a:endParaRPr>
          </a:p>
          <a:p>
            <a:pPr marL="440690" marR="986155" indent="-428625">
              <a:lnSpc>
                <a:spcPct val="150900"/>
              </a:lnSpc>
              <a:spcBef>
                <a:spcPts val="975"/>
              </a:spcBef>
              <a:buSzPct val="75000"/>
              <a:buFont typeface="Arial MT"/>
              <a:buAutoNum type="arabicPeriod"/>
              <a:tabLst>
                <a:tab pos="440690" algn="l"/>
              </a:tabLst>
            </a:pPr>
            <a:r>
              <a:rPr dirty="0" sz="2400" spc="105">
                <a:latin typeface="Cambria"/>
                <a:cs typeface="Cambria"/>
              </a:rPr>
              <a:t>Extracted </a:t>
            </a:r>
            <a:r>
              <a:rPr dirty="0" sz="2400" spc="114">
                <a:latin typeface="Cambria"/>
                <a:cs typeface="Cambria"/>
              </a:rPr>
              <a:t>features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are</a:t>
            </a:r>
            <a:r>
              <a:rPr dirty="0" sz="2400" spc="105">
                <a:latin typeface="Cambria"/>
                <a:cs typeface="Cambria"/>
              </a:rPr>
              <a:t> passed</a:t>
            </a:r>
            <a:r>
              <a:rPr dirty="0" sz="2400" spc="110">
                <a:latin typeface="Cambria"/>
                <a:cs typeface="Cambria"/>
              </a:rPr>
              <a:t> into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the </a:t>
            </a:r>
            <a:r>
              <a:rPr dirty="0" sz="2400" spc="100">
                <a:latin typeface="Cambria"/>
                <a:cs typeface="Cambria"/>
              </a:rPr>
              <a:t>classification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layer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for </a:t>
            </a:r>
            <a:r>
              <a:rPr dirty="0" sz="2400" spc="105">
                <a:latin typeface="Cambria"/>
                <a:cs typeface="Cambria"/>
              </a:rPr>
              <a:t>decision </a:t>
            </a:r>
            <a:r>
              <a:rPr dirty="0" sz="2400" spc="140">
                <a:latin typeface="Cambria"/>
                <a:cs typeface="Cambria"/>
              </a:rPr>
              <a:t>making.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4329" rIns="0" bIns="0" rtlCol="0" vert="horz">
            <a:spAutoFit/>
          </a:bodyPr>
          <a:lstStyle/>
          <a:p>
            <a:pPr marL="88265">
              <a:lnSpc>
                <a:spcPct val="100000"/>
              </a:lnSpc>
              <a:spcBef>
                <a:spcPts val="105"/>
              </a:spcBef>
            </a:pPr>
            <a:r>
              <a:rPr dirty="0" sz="3950" spc="-495"/>
              <a:t>IMPLEMENTATION</a:t>
            </a:r>
            <a:r>
              <a:rPr dirty="0" sz="3950" spc="-190"/>
              <a:t> </a:t>
            </a:r>
            <a:r>
              <a:rPr dirty="0" sz="3950" spc="-495"/>
              <a:t>OF</a:t>
            </a:r>
            <a:r>
              <a:rPr dirty="0" sz="3950" spc="-175"/>
              <a:t> </a:t>
            </a:r>
            <a:r>
              <a:rPr dirty="0" sz="3950" spc="-515"/>
              <a:t>FEATURE</a:t>
            </a:r>
            <a:r>
              <a:rPr dirty="0" sz="3950" spc="-180"/>
              <a:t> </a:t>
            </a:r>
            <a:r>
              <a:rPr dirty="0" sz="3950" spc="-465"/>
              <a:t>EXTRACTION</a:t>
            </a:r>
            <a:r>
              <a:rPr dirty="0" sz="3950" spc="-175"/>
              <a:t> </a:t>
            </a:r>
            <a:r>
              <a:rPr dirty="0" sz="3950" spc="-525"/>
              <a:t>MODULE</a:t>
            </a:r>
            <a:endParaRPr sz="39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5" b="1">
                <a:latin typeface="Calibri"/>
                <a:cs typeface="Calibri"/>
              </a:rPr>
              <a:t>1</a:t>
            </a:r>
            <a:r>
              <a:rPr dirty="0" spc="-25" b="1">
                <a:latin typeface="Calibri"/>
                <a:cs typeface="Calibri"/>
              </a:rPr>
              <a:t>5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1058682" y="1358080"/>
            <a:ext cx="10200005" cy="4507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40690" marR="5080" indent="-428625">
              <a:lnSpc>
                <a:spcPct val="140500"/>
              </a:lnSpc>
              <a:spcBef>
                <a:spcPts val="100"/>
              </a:spcBef>
              <a:buSzPct val="75000"/>
              <a:buFont typeface="Arial MT"/>
              <a:buAutoNum type="arabicPeriod"/>
              <a:tabLst>
                <a:tab pos="440690" algn="l"/>
                <a:tab pos="799465" algn="l"/>
                <a:tab pos="1643380" algn="l"/>
                <a:tab pos="3943350" algn="l"/>
                <a:tab pos="5386705" algn="l"/>
                <a:tab pos="6792595" algn="l"/>
                <a:tab pos="8293100" algn="l"/>
                <a:tab pos="9632315" algn="l"/>
              </a:tabLst>
            </a:pPr>
            <a:r>
              <a:rPr dirty="0" sz="2400" spc="130">
                <a:latin typeface="Cambria"/>
                <a:cs typeface="Cambria"/>
              </a:rPr>
              <a:t>A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0">
                <a:latin typeface="Cambria"/>
                <a:cs typeface="Cambria"/>
              </a:rPr>
              <a:t>deep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10">
                <a:latin typeface="Cambria"/>
                <a:cs typeface="Cambria"/>
              </a:rPr>
              <a:t>learning-</a:t>
            </a:r>
            <a:r>
              <a:rPr dirty="0" sz="2400" spc="120">
                <a:latin typeface="Cambria"/>
                <a:cs typeface="Cambria"/>
              </a:rPr>
              <a:t>based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90">
                <a:latin typeface="Cambria"/>
                <a:cs typeface="Cambria"/>
              </a:rPr>
              <a:t>classifier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20">
                <a:latin typeface="Cambria"/>
                <a:cs typeface="Cambria"/>
              </a:rPr>
              <a:t>analyzes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0">
                <a:latin typeface="Cambria"/>
                <a:cs typeface="Cambria"/>
              </a:rPr>
              <a:t>extracted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5">
                <a:latin typeface="Cambria"/>
                <a:cs typeface="Cambria"/>
              </a:rPr>
              <a:t>features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40">
                <a:latin typeface="Cambria"/>
                <a:cs typeface="Cambria"/>
              </a:rPr>
              <a:t>and </a:t>
            </a:r>
            <a:r>
              <a:rPr dirty="0" sz="2400" spc="90">
                <a:latin typeface="Cambria"/>
                <a:cs typeface="Cambria"/>
              </a:rPr>
              <a:t>predicts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35">
                <a:latin typeface="Cambria"/>
                <a:cs typeface="Cambria"/>
              </a:rPr>
              <a:t>whether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the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45">
                <a:latin typeface="Cambria"/>
                <a:cs typeface="Cambria"/>
              </a:rPr>
              <a:t>image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is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Real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or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70">
                <a:latin typeface="Cambria"/>
                <a:cs typeface="Cambria"/>
              </a:rPr>
              <a:t>Fake.</a:t>
            </a:r>
            <a:endParaRPr sz="2400">
              <a:latin typeface="Cambria"/>
              <a:cs typeface="Cambria"/>
            </a:endParaRPr>
          </a:p>
          <a:p>
            <a:pPr marL="440690" marR="128905" indent="-428625">
              <a:lnSpc>
                <a:spcPct val="140500"/>
              </a:lnSpc>
              <a:spcBef>
                <a:spcPts val="969"/>
              </a:spcBef>
              <a:buSzPct val="75000"/>
              <a:buFont typeface="Arial MT"/>
              <a:buAutoNum type="arabicPeriod"/>
              <a:tabLst>
                <a:tab pos="440690" algn="l"/>
              </a:tabLst>
            </a:pPr>
            <a:r>
              <a:rPr dirty="0" sz="2400" spc="100">
                <a:latin typeface="Cambria"/>
                <a:cs typeface="Cambria"/>
              </a:rPr>
              <a:t>The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40">
                <a:latin typeface="Cambria"/>
                <a:cs typeface="Cambria"/>
              </a:rPr>
              <a:t>model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outputs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110">
                <a:latin typeface="Cambria"/>
                <a:cs typeface="Cambria"/>
              </a:rPr>
              <a:t> probability </a:t>
            </a:r>
            <a:r>
              <a:rPr dirty="0" sz="2400" spc="95">
                <a:latin typeface="Cambria"/>
                <a:cs typeface="Cambria"/>
              </a:rPr>
              <a:t>score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indicating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confidence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of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the </a:t>
            </a:r>
            <a:r>
              <a:rPr dirty="0" sz="2400" spc="100">
                <a:latin typeface="Cambria"/>
                <a:cs typeface="Cambria"/>
              </a:rPr>
              <a:t>prediction.</a:t>
            </a:r>
            <a:endParaRPr sz="2400">
              <a:latin typeface="Cambria"/>
              <a:cs typeface="Cambria"/>
            </a:endParaRPr>
          </a:p>
          <a:p>
            <a:pPr marL="440690" marR="425450" indent="-428625">
              <a:lnSpc>
                <a:spcPct val="140500"/>
              </a:lnSpc>
              <a:spcBef>
                <a:spcPts val="975"/>
              </a:spcBef>
              <a:buSzPct val="75000"/>
              <a:buFont typeface="Arial MT"/>
              <a:buAutoNum type="arabicPeriod"/>
              <a:tabLst>
                <a:tab pos="440690" algn="l"/>
              </a:tabLst>
            </a:pPr>
            <a:r>
              <a:rPr dirty="0" sz="2400" spc="135">
                <a:latin typeface="Cambria"/>
                <a:cs typeface="Cambria"/>
              </a:rPr>
              <a:t>Binary</a:t>
            </a:r>
            <a:r>
              <a:rPr dirty="0" sz="2400" spc="9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classification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65">
                <a:latin typeface="Cambria"/>
                <a:cs typeface="Cambria"/>
              </a:rPr>
              <a:t>is</a:t>
            </a:r>
            <a:r>
              <a:rPr dirty="0" sz="2400" spc="105">
                <a:latin typeface="Cambria"/>
                <a:cs typeface="Cambria"/>
              </a:rPr>
              <a:t> used </a:t>
            </a:r>
            <a:r>
              <a:rPr dirty="0" sz="2400" spc="60">
                <a:latin typeface="Cambria"/>
                <a:cs typeface="Cambria"/>
              </a:rPr>
              <a:t>to</a:t>
            </a:r>
            <a:r>
              <a:rPr dirty="0" sz="2400" spc="105">
                <a:latin typeface="Cambria"/>
                <a:cs typeface="Cambria"/>
              </a:rPr>
              <a:t> categorize </a:t>
            </a:r>
            <a:r>
              <a:rPr dirty="0" sz="2400" spc="110">
                <a:latin typeface="Cambria"/>
                <a:cs typeface="Cambria"/>
              </a:rPr>
              <a:t>the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50">
                <a:latin typeface="Cambria"/>
                <a:cs typeface="Cambria"/>
              </a:rPr>
              <a:t>media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as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authentic </a:t>
            </a:r>
            <a:r>
              <a:rPr dirty="0" sz="2400" spc="55">
                <a:latin typeface="Cambria"/>
                <a:cs typeface="Cambria"/>
              </a:rPr>
              <a:t>(real)</a:t>
            </a:r>
            <a:r>
              <a:rPr dirty="0" sz="2400" spc="9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or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tampered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50">
                <a:latin typeface="Cambria"/>
                <a:cs typeface="Cambria"/>
              </a:rPr>
              <a:t>(fake).</a:t>
            </a:r>
            <a:endParaRPr sz="2400">
              <a:latin typeface="Cambria"/>
              <a:cs typeface="Cambria"/>
            </a:endParaRPr>
          </a:p>
          <a:p>
            <a:pPr marL="440690" marR="286385" indent="-428625">
              <a:lnSpc>
                <a:spcPct val="140500"/>
              </a:lnSpc>
              <a:spcBef>
                <a:spcPts val="975"/>
              </a:spcBef>
              <a:buSzPct val="75000"/>
              <a:buFont typeface="Arial MT"/>
              <a:buAutoNum type="arabicPeriod"/>
              <a:tabLst>
                <a:tab pos="440690" algn="l"/>
              </a:tabLst>
            </a:pPr>
            <a:r>
              <a:rPr dirty="0" sz="2400" spc="100">
                <a:latin typeface="Cambria"/>
                <a:cs typeface="Cambria"/>
              </a:rPr>
              <a:t>The </a:t>
            </a:r>
            <a:r>
              <a:rPr dirty="0" sz="2400" spc="110">
                <a:latin typeface="Cambria"/>
                <a:cs typeface="Cambria"/>
              </a:rPr>
              <a:t>trained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weights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35">
                <a:latin typeface="Cambria"/>
                <a:cs typeface="Cambria"/>
              </a:rPr>
              <a:t>enable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fast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65">
                <a:latin typeface="Cambria"/>
                <a:cs typeface="Cambria"/>
              </a:rPr>
              <a:t>and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35">
                <a:latin typeface="Cambria"/>
                <a:cs typeface="Cambria"/>
              </a:rPr>
              <a:t>automated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detection</a:t>
            </a:r>
            <a:r>
              <a:rPr dirty="0" sz="2400" spc="105">
                <a:latin typeface="Cambria"/>
                <a:cs typeface="Cambria"/>
              </a:rPr>
              <a:t> without </a:t>
            </a:r>
            <a:r>
              <a:rPr dirty="0" sz="2400" spc="175">
                <a:latin typeface="Cambria"/>
                <a:cs typeface="Cambria"/>
              </a:rPr>
              <a:t>manual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evaluation.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34329" rIns="0" bIns="0" rtlCol="0" vert="horz">
            <a:spAutoFit/>
          </a:bodyPr>
          <a:lstStyle/>
          <a:p>
            <a:pPr marL="797560">
              <a:lnSpc>
                <a:spcPct val="100000"/>
              </a:lnSpc>
              <a:spcBef>
                <a:spcPts val="105"/>
              </a:spcBef>
            </a:pPr>
            <a:r>
              <a:rPr dirty="0" sz="3950" spc="-495"/>
              <a:t>IMPLEMENTATION</a:t>
            </a:r>
            <a:r>
              <a:rPr dirty="0" sz="3950" spc="-185"/>
              <a:t> </a:t>
            </a:r>
            <a:r>
              <a:rPr dirty="0" sz="3950" spc="-495"/>
              <a:t>OF</a:t>
            </a:r>
            <a:r>
              <a:rPr dirty="0" sz="3950" spc="-175"/>
              <a:t> </a:t>
            </a:r>
            <a:r>
              <a:rPr dirty="0" sz="3950" spc="-445"/>
              <a:t>CLASSIFICATION</a:t>
            </a:r>
            <a:r>
              <a:rPr dirty="0" sz="3950" spc="-170"/>
              <a:t> </a:t>
            </a:r>
            <a:r>
              <a:rPr dirty="0" sz="3950" spc="-525"/>
              <a:t>MODEL</a:t>
            </a:r>
            <a:endParaRPr sz="39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747" y="331745"/>
            <a:ext cx="11233150" cy="6286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950" spc="-495"/>
              <a:t>IMPLEMENTATION</a:t>
            </a:r>
            <a:r>
              <a:rPr dirty="0" sz="3950" spc="-190"/>
              <a:t> </a:t>
            </a:r>
            <a:r>
              <a:rPr dirty="0" sz="3950" spc="-495"/>
              <a:t>OF</a:t>
            </a:r>
            <a:r>
              <a:rPr dirty="0" sz="3950" spc="-175"/>
              <a:t> </a:t>
            </a:r>
            <a:r>
              <a:rPr dirty="0" sz="3950" spc="-515"/>
              <a:t>RESULT</a:t>
            </a:r>
            <a:r>
              <a:rPr dirty="0" sz="3950" spc="-180"/>
              <a:t> </a:t>
            </a:r>
            <a:r>
              <a:rPr dirty="0" sz="3950" spc="-440"/>
              <a:t>VISUALIZATION</a:t>
            </a:r>
            <a:r>
              <a:rPr dirty="0" sz="3950" spc="-175"/>
              <a:t> </a:t>
            </a:r>
            <a:r>
              <a:rPr dirty="0" sz="3950" spc="-525"/>
              <a:t>MODULE</a:t>
            </a:r>
            <a:endParaRPr sz="3950"/>
          </a:p>
        </p:txBody>
      </p:sp>
      <p:sp>
        <p:nvSpPr>
          <p:cNvPr id="3" name="object 3" descr=""/>
          <p:cNvSpPr txBox="1"/>
          <p:nvPr/>
        </p:nvSpPr>
        <p:spPr>
          <a:xfrm>
            <a:off x="598153" y="1161728"/>
            <a:ext cx="10732770" cy="1475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97840" indent="-485140">
              <a:lnSpc>
                <a:spcPts val="2865"/>
              </a:lnSpc>
              <a:spcBef>
                <a:spcPts val="95"/>
              </a:spcBef>
              <a:buFont typeface="Arial MT"/>
              <a:buAutoNum type="arabicPeriod"/>
              <a:tabLst>
                <a:tab pos="497840" algn="l"/>
              </a:tabLst>
            </a:pPr>
            <a:r>
              <a:rPr dirty="0" sz="2400" spc="100">
                <a:latin typeface="Cambria"/>
                <a:cs typeface="Cambria"/>
              </a:rPr>
              <a:t>The</a:t>
            </a:r>
            <a:r>
              <a:rPr dirty="0" sz="2400" spc="110">
                <a:latin typeface="Cambria"/>
                <a:cs typeface="Cambria"/>
              </a:rPr>
              <a:t> Streamlit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interface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displays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the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final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result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as</a:t>
            </a:r>
            <a:r>
              <a:rPr dirty="0" sz="2400" spc="114">
                <a:latin typeface="Cambria"/>
                <a:cs typeface="Cambria"/>
              </a:rPr>
              <a:t> </a:t>
            </a:r>
            <a:r>
              <a:rPr dirty="0" sz="2400" b="1" i="1">
                <a:latin typeface="Roboto Bk"/>
                <a:cs typeface="Roboto Bk"/>
              </a:rPr>
              <a:t>“Real”</a:t>
            </a:r>
            <a:r>
              <a:rPr dirty="0" sz="2400" spc="120" b="1" i="1">
                <a:latin typeface="Roboto Bk"/>
                <a:cs typeface="Roboto Bk"/>
              </a:rPr>
              <a:t> </a:t>
            </a:r>
            <a:r>
              <a:rPr dirty="0" sz="2400" spc="120">
                <a:latin typeface="Cambria"/>
                <a:cs typeface="Cambria"/>
              </a:rPr>
              <a:t>or</a:t>
            </a:r>
            <a:r>
              <a:rPr dirty="0" sz="2400" spc="180">
                <a:latin typeface="Cambria"/>
                <a:cs typeface="Cambria"/>
              </a:rPr>
              <a:t> </a:t>
            </a:r>
            <a:r>
              <a:rPr dirty="0" sz="2400" spc="-10" b="1" i="1">
                <a:latin typeface="Roboto Bk"/>
                <a:cs typeface="Roboto Bk"/>
              </a:rPr>
              <a:t>“Fake”</a:t>
            </a:r>
            <a:endParaRPr sz="2400">
              <a:latin typeface="Roboto Bk"/>
              <a:cs typeface="Roboto Bk"/>
            </a:endParaRPr>
          </a:p>
          <a:p>
            <a:pPr marL="497840">
              <a:lnSpc>
                <a:spcPts val="2845"/>
              </a:lnSpc>
            </a:pPr>
            <a:r>
              <a:rPr dirty="0" sz="2400" spc="135">
                <a:latin typeface="Cambria"/>
                <a:cs typeface="Cambria"/>
              </a:rPr>
              <a:t>along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with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prediction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confidence.</a:t>
            </a:r>
            <a:endParaRPr sz="2400">
              <a:latin typeface="Cambria"/>
              <a:cs typeface="Cambria"/>
            </a:endParaRPr>
          </a:p>
          <a:p>
            <a:pPr marL="497840" marR="5080" indent="-485775">
              <a:lnSpc>
                <a:spcPts val="2850"/>
              </a:lnSpc>
              <a:spcBef>
                <a:spcPts val="105"/>
              </a:spcBef>
              <a:buFont typeface="Arial MT"/>
              <a:buAutoNum type="arabicPeriod" startAt="2"/>
              <a:tabLst>
                <a:tab pos="497840" algn="l"/>
                <a:tab pos="1175385" algn="l"/>
                <a:tab pos="3910965" algn="l"/>
                <a:tab pos="5361940" algn="l"/>
                <a:tab pos="6772909" algn="l"/>
                <a:tab pos="7184390" algn="l"/>
                <a:tab pos="7786370" algn="l"/>
                <a:tab pos="9267825" algn="l"/>
              </a:tabLst>
            </a:pPr>
            <a:r>
              <a:rPr dirty="0" sz="2400" spc="75">
                <a:latin typeface="Cambria"/>
                <a:cs typeface="Cambria"/>
              </a:rPr>
              <a:t>The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85">
                <a:latin typeface="Cambria"/>
                <a:cs typeface="Cambria"/>
              </a:rPr>
              <a:t>detected</a:t>
            </a:r>
            <a:r>
              <a:rPr dirty="0" sz="2400" spc="495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outcome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65">
                <a:latin typeface="Cambria"/>
                <a:cs typeface="Cambria"/>
              </a:rPr>
              <a:t>is</a:t>
            </a:r>
            <a:r>
              <a:rPr dirty="0" sz="2400" spc="415">
                <a:latin typeface="Cambria"/>
                <a:cs typeface="Cambria"/>
              </a:rPr>
              <a:t> </a:t>
            </a:r>
            <a:r>
              <a:rPr dirty="0" sz="2400" spc="140">
                <a:latin typeface="Cambria"/>
                <a:cs typeface="Cambria"/>
              </a:rPr>
              <a:t>shown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00">
                <a:latin typeface="Cambria"/>
                <a:cs typeface="Cambria"/>
              </a:rPr>
              <a:t>instantly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35">
                <a:latin typeface="Cambria"/>
                <a:cs typeface="Cambria"/>
              </a:rPr>
              <a:t>to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85">
                <a:latin typeface="Cambria"/>
                <a:cs typeface="Cambria"/>
              </a:rPr>
              <a:t>the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10">
                <a:latin typeface="Cambria"/>
                <a:cs typeface="Cambria"/>
              </a:rPr>
              <a:t>user</a:t>
            </a:r>
            <a:r>
              <a:rPr dirty="0" sz="2400" spc="465">
                <a:latin typeface="Cambria"/>
                <a:cs typeface="Cambria"/>
              </a:rPr>
              <a:t> </a:t>
            </a:r>
            <a:r>
              <a:rPr dirty="0" sz="2400" spc="150">
                <a:latin typeface="Cambria"/>
                <a:cs typeface="Cambria"/>
              </a:rPr>
              <a:t>in</a:t>
            </a:r>
            <a:r>
              <a:rPr dirty="0" sz="2400" spc="400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a</a:t>
            </a:r>
            <a:r>
              <a:rPr dirty="0" sz="2400">
                <a:latin typeface="Cambria"/>
                <a:cs typeface="Cambria"/>
              </a:rPr>
              <a:t>	</a:t>
            </a:r>
            <a:r>
              <a:rPr dirty="0" sz="2400" spc="140">
                <a:latin typeface="Cambria"/>
                <a:cs typeface="Cambria"/>
              </a:rPr>
              <a:t>clean</a:t>
            </a:r>
            <a:r>
              <a:rPr dirty="0" sz="2400" spc="425">
                <a:latin typeface="Cambria"/>
                <a:cs typeface="Cambria"/>
              </a:rPr>
              <a:t> </a:t>
            </a:r>
            <a:r>
              <a:rPr dirty="0" sz="2400" spc="140">
                <a:latin typeface="Cambria"/>
                <a:cs typeface="Cambria"/>
              </a:rPr>
              <a:t>and </a:t>
            </a:r>
            <a:r>
              <a:rPr dirty="0" sz="2400" spc="110">
                <a:latin typeface="Cambria"/>
                <a:cs typeface="Cambria"/>
              </a:rPr>
              <a:t>simple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UI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for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practical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verification.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0228" y="2827881"/>
            <a:ext cx="1628347" cy="392718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1905871" y="6593936"/>
            <a:ext cx="18034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25" b="1">
                <a:latin typeface="Calibri"/>
                <a:cs typeface="Calibri"/>
              </a:rPr>
              <a:t>16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5"/>
              <a:t>1</a:t>
            </a:r>
            <a:r>
              <a:rPr dirty="0" spc="-25"/>
              <a:t>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753" rIns="0" bIns="0" rtlCol="0" vert="horz">
            <a:spAutoFit/>
          </a:bodyPr>
          <a:lstStyle/>
          <a:p>
            <a:pPr marL="3811904">
              <a:lnSpc>
                <a:spcPct val="100000"/>
              </a:lnSpc>
              <a:spcBef>
                <a:spcPts val="95"/>
              </a:spcBef>
            </a:pPr>
            <a:r>
              <a:rPr dirty="0" spc="-575"/>
              <a:t>CONCLUSION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02268" y="1593847"/>
            <a:ext cx="10359390" cy="412686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algn="just" marL="537845" marR="5080" indent="-525780">
              <a:lnSpc>
                <a:spcPct val="150600"/>
              </a:lnSpc>
              <a:spcBef>
                <a:spcPts val="365"/>
              </a:spcBef>
              <a:buSzPct val="116666"/>
              <a:buFont typeface="Arial MT"/>
              <a:buAutoNum type="arabicPeriod"/>
              <a:tabLst>
                <a:tab pos="539750" algn="l"/>
              </a:tabLst>
            </a:pPr>
            <a:r>
              <a:rPr dirty="0" sz="2400" spc="105">
                <a:latin typeface="Cambria"/>
                <a:cs typeface="Cambria"/>
              </a:rPr>
              <a:t>The</a:t>
            </a:r>
            <a:r>
              <a:rPr dirty="0" sz="2400" spc="245">
                <a:latin typeface="Cambria"/>
                <a:cs typeface="Cambria"/>
              </a:rPr>
              <a:t>   </a:t>
            </a:r>
            <a:r>
              <a:rPr dirty="0" sz="2400" spc="114">
                <a:latin typeface="Cambria"/>
                <a:cs typeface="Cambria"/>
              </a:rPr>
              <a:t>developed</a:t>
            </a:r>
            <a:r>
              <a:rPr dirty="0" sz="2400" spc="240">
                <a:latin typeface="Cambria"/>
                <a:cs typeface="Cambria"/>
              </a:rPr>
              <a:t>   </a:t>
            </a:r>
            <a:r>
              <a:rPr dirty="0" sz="2400" spc="90">
                <a:latin typeface="Cambria"/>
                <a:cs typeface="Cambria"/>
              </a:rPr>
              <a:t>AI-</a:t>
            </a:r>
            <a:r>
              <a:rPr dirty="0" sz="2400" spc="105">
                <a:latin typeface="Cambria"/>
                <a:cs typeface="Cambria"/>
              </a:rPr>
              <a:t>based</a:t>
            </a:r>
            <a:r>
              <a:rPr dirty="0" sz="2400" spc="270">
                <a:latin typeface="Cambria"/>
                <a:cs typeface="Cambria"/>
              </a:rPr>
              <a:t>   </a:t>
            </a:r>
            <a:r>
              <a:rPr dirty="0" sz="2400" spc="200">
                <a:latin typeface="Cambria"/>
                <a:cs typeface="Cambria"/>
              </a:rPr>
              <a:t>human</a:t>
            </a:r>
            <a:r>
              <a:rPr dirty="0" sz="2400" spc="260">
                <a:latin typeface="Cambria"/>
                <a:cs typeface="Cambria"/>
              </a:rPr>
              <a:t>   </a:t>
            </a:r>
            <a:r>
              <a:rPr dirty="0" sz="2400" spc="120">
                <a:latin typeface="Cambria"/>
                <a:cs typeface="Cambria"/>
              </a:rPr>
              <a:t>deepfake</a:t>
            </a:r>
            <a:r>
              <a:rPr dirty="0" sz="2400" spc="260">
                <a:latin typeface="Cambria"/>
                <a:cs typeface="Cambria"/>
              </a:rPr>
              <a:t>   </a:t>
            </a:r>
            <a:r>
              <a:rPr dirty="0" sz="2400" spc="95">
                <a:latin typeface="Cambria"/>
                <a:cs typeface="Cambria"/>
              </a:rPr>
              <a:t>detection</a:t>
            </a:r>
            <a:r>
              <a:rPr dirty="0" sz="2400" spc="260">
                <a:latin typeface="Cambria"/>
                <a:cs typeface="Cambria"/>
              </a:rPr>
              <a:t>   </a:t>
            </a:r>
            <a:r>
              <a:rPr dirty="0" sz="2400" spc="85">
                <a:latin typeface="Cambria"/>
                <a:cs typeface="Cambria"/>
              </a:rPr>
              <a:t>system </a:t>
            </a:r>
            <a:r>
              <a:rPr dirty="0" sz="2400" spc="85">
                <a:latin typeface="Cambria"/>
                <a:cs typeface="Cambria"/>
              </a:rPr>
              <a:t>	</a:t>
            </a:r>
            <a:r>
              <a:rPr dirty="0" sz="2400" spc="110">
                <a:latin typeface="Cambria"/>
                <a:cs typeface="Cambria"/>
              </a:rPr>
              <a:t>successfully</a:t>
            </a:r>
            <a:r>
              <a:rPr dirty="0" sz="2400" spc="56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identifies</a:t>
            </a:r>
            <a:r>
              <a:rPr dirty="0" sz="2400" spc="445">
                <a:latin typeface="Cambria"/>
                <a:cs typeface="Cambria"/>
              </a:rPr>
              <a:t> </a:t>
            </a:r>
            <a:r>
              <a:rPr dirty="0" sz="2400" spc="140">
                <a:latin typeface="Cambria"/>
                <a:cs typeface="Cambria"/>
              </a:rPr>
              <a:t>manipulated</a:t>
            </a:r>
            <a:r>
              <a:rPr dirty="0" sz="2400" spc="59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images</a:t>
            </a:r>
            <a:r>
              <a:rPr dirty="0" sz="2400" spc="49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by</a:t>
            </a:r>
            <a:r>
              <a:rPr dirty="0" sz="2400" spc="70">
                <a:latin typeface="Cambria"/>
                <a:cs typeface="Cambria"/>
              </a:rPr>
              <a:t>  </a:t>
            </a:r>
            <a:r>
              <a:rPr dirty="0" sz="2400" spc="120">
                <a:latin typeface="Cambria"/>
                <a:cs typeface="Cambria"/>
              </a:rPr>
              <a:t>using</a:t>
            </a:r>
            <a:r>
              <a:rPr dirty="0" sz="2400" spc="450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</a:t>
            </a:r>
            <a:r>
              <a:rPr dirty="0" sz="2400" spc="52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CNN-</a:t>
            </a:r>
            <a:r>
              <a:rPr dirty="0" sz="2400" spc="95">
                <a:latin typeface="Cambria"/>
                <a:cs typeface="Cambria"/>
              </a:rPr>
              <a:t>based </a:t>
            </a:r>
            <a:r>
              <a:rPr dirty="0" sz="2400" spc="95">
                <a:latin typeface="Cambria"/>
                <a:cs typeface="Cambria"/>
              </a:rPr>
              <a:t>	</a:t>
            </a:r>
            <a:r>
              <a:rPr dirty="0" sz="2400" spc="125">
                <a:latin typeface="Cambria"/>
                <a:cs typeface="Cambria"/>
              </a:rPr>
              <a:t>MobileNet</a:t>
            </a:r>
            <a:r>
              <a:rPr dirty="0" sz="2400" spc="375">
                <a:latin typeface="Cambria"/>
                <a:cs typeface="Cambria"/>
              </a:rPr>
              <a:t>    </a:t>
            </a:r>
            <a:r>
              <a:rPr dirty="0" sz="2400" spc="80">
                <a:latin typeface="Cambria"/>
                <a:cs typeface="Cambria"/>
              </a:rPr>
              <a:t>V2</a:t>
            </a:r>
            <a:r>
              <a:rPr dirty="0" sz="2400" spc="355">
                <a:latin typeface="Cambria"/>
                <a:cs typeface="Cambria"/>
              </a:rPr>
              <a:t>    </a:t>
            </a:r>
            <a:r>
              <a:rPr dirty="0" sz="2400" spc="125">
                <a:latin typeface="Cambria"/>
                <a:cs typeface="Cambria"/>
              </a:rPr>
              <a:t>model,</a:t>
            </a:r>
            <a:r>
              <a:rPr dirty="0" sz="2400" spc="375">
                <a:latin typeface="Cambria"/>
                <a:cs typeface="Cambria"/>
              </a:rPr>
              <a:t>    </a:t>
            </a:r>
            <a:r>
              <a:rPr dirty="0" sz="2400" spc="135">
                <a:latin typeface="Cambria"/>
                <a:cs typeface="Cambria"/>
              </a:rPr>
              <a:t>ensuring</a:t>
            </a:r>
            <a:r>
              <a:rPr dirty="0" sz="2400" spc="370">
                <a:latin typeface="Cambria"/>
                <a:cs typeface="Cambria"/>
              </a:rPr>
              <a:t>    </a:t>
            </a:r>
            <a:r>
              <a:rPr dirty="0" sz="2400" spc="120">
                <a:latin typeface="Cambria"/>
                <a:cs typeface="Cambria"/>
              </a:rPr>
              <a:t>accurate</a:t>
            </a:r>
            <a:r>
              <a:rPr dirty="0" sz="2400" spc="365">
                <a:latin typeface="Cambria"/>
                <a:cs typeface="Cambria"/>
              </a:rPr>
              <a:t>    </a:t>
            </a:r>
            <a:r>
              <a:rPr dirty="0" sz="2400" spc="165">
                <a:latin typeface="Cambria"/>
                <a:cs typeface="Cambria"/>
              </a:rPr>
              <a:t>and</a:t>
            </a:r>
            <a:r>
              <a:rPr dirty="0" sz="2400" spc="360">
                <a:latin typeface="Cambria"/>
                <a:cs typeface="Cambria"/>
              </a:rPr>
              <a:t>    </a:t>
            </a:r>
            <a:r>
              <a:rPr dirty="0" sz="2400" spc="105">
                <a:latin typeface="Cambria"/>
                <a:cs typeface="Cambria"/>
              </a:rPr>
              <a:t>reliable </a:t>
            </a:r>
            <a:r>
              <a:rPr dirty="0" sz="2400" spc="105">
                <a:latin typeface="Cambria"/>
                <a:cs typeface="Cambria"/>
              </a:rPr>
              <a:t>	</a:t>
            </a:r>
            <a:r>
              <a:rPr dirty="0" sz="2400" spc="120">
                <a:latin typeface="Cambria"/>
                <a:cs typeface="Cambria"/>
              </a:rPr>
              <a:t>differentiation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between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real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65">
                <a:latin typeface="Cambria"/>
                <a:cs typeface="Cambria"/>
              </a:rPr>
              <a:t>and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fake</a:t>
            </a:r>
            <a:r>
              <a:rPr dirty="0" sz="2400" spc="110">
                <a:latin typeface="Cambria"/>
                <a:cs typeface="Cambria"/>
              </a:rPr>
              <a:t> images.</a:t>
            </a:r>
            <a:endParaRPr sz="2400">
              <a:latin typeface="Cambria"/>
              <a:cs typeface="Cambria"/>
            </a:endParaRPr>
          </a:p>
          <a:p>
            <a:pPr algn="just" marL="538480" indent="-525780">
              <a:lnSpc>
                <a:spcPct val="100000"/>
              </a:lnSpc>
              <a:spcBef>
                <a:spcPts val="1440"/>
              </a:spcBef>
              <a:buSzPct val="116666"/>
              <a:buFont typeface="Arial MT"/>
              <a:buAutoNum type="arabicPeriod"/>
              <a:tabLst>
                <a:tab pos="538480" algn="l"/>
              </a:tabLst>
            </a:pPr>
            <a:r>
              <a:rPr dirty="0" sz="2400" spc="105">
                <a:latin typeface="Cambria"/>
                <a:cs typeface="Cambria"/>
              </a:rPr>
              <a:t>The </a:t>
            </a:r>
            <a:r>
              <a:rPr dirty="0" sz="2400" spc="90">
                <a:latin typeface="Cambria"/>
                <a:cs typeface="Cambria"/>
              </a:rPr>
              <a:t>project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35">
                <a:latin typeface="Cambria"/>
                <a:cs typeface="Cambria"/>
              </a:rPr>
              <a:t>enhances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digital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50">
                <a:latin typeface="Cambria"/>
                <a:cs typeface="Cambria"/>
              </a:rPr>
              <a:t>media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security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by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providing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60">
                <a:latin typeface="Cambria"/>
                <a:cs typeface="Cambria"/>
              </a:rPr>
              <a:t>an</a:t>
            </a:r>
            <a:endParaRPr sz="2400">
              <a:latin typeface="Cambria"/>
              <a:cs typeface="Cambria"/>
            </a:endParaRPr>
          </a:p>
          <a:p>
            <a:pPr algn="just" marL="539750" marR="71120">
              <a:lnSpc>
                <a:spcPct val="150900"/>
              </a:lnSpc>
              <a:spcBef>
                <a:spcPts val="220"/>
              </a:spcBef>
            </a:pPr>
            <a:r>
              <a:rPr dirty="0" sz="2400" spc="120">
                <a:latin typeface="Cambria"/>
                <a:cs typeface="Cambria"/>
              </a:rPr>
              <a:t>automated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tool</a:t>
            </a:r>
            <a:r>
              <a:rPr dirty="0" sz="2400" spc="105">
                <a:latin typeface="Cambria"/>
                <a:cs typeface="Cambria"/>
              </a:rPr>
              <a:t> that </a:t>
            </a:r>
            <a:r>
              <a:rPr dirty="0" sz="2400" spc="110">
                <a:latin typeface="Cambria"/>
                <a:cs typeface="Cambria"/>
              </a:rPr>
              <a:t>helps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prevent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40">
                <a:latin typeface="Cambria"/>
                <a:cs typeface="Cambria"/>
              </a:rPr>
              <a:t>misinformation,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identity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misuse, </a:t>
            </a:r>
            <a:r>
              <a:rPr dirty="0" sz="2400" spc="170">
                <a:latin typeface="Cambria"/>
                <a:cs typeface="Cambria"/>
              </a:rPr>
              <a:t>and</a:t>
            </a:r>
            <a:r>
              <a:rPr dirty="0" sz="2400" spc="90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online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45">
                <a:latin typeface="Cambria"/>
                <a:cs typeface="Cambria"/>
              </a:rPr>
              <a:t>fraud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caused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by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deepfake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80">
                <a:latin typeface="Cambria"/>
                <a:cs typeface="Cambria"/>
              </a:rPr>
              <a:t>technology.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25"/>
              <a:t>1</a:t>
            </a:r>
            <a:r>
              <a:rPr dirty="0" spc="-25"/>
              <a:t>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0691" rIns="0" bIns="0" rtlCol="0" vert="horz">
            <a:spAutoFit/>
          </a:bodyPr>
          <a:lstStyle/>
          <a:p>
            <a:pPr marL="2513330">
              <a:lnSpc>
                <a:spcPct val="100000"/>
              </a:lnSpc>
              <a:spcBef>
                <a:spcPts val="95"/>
              </a:spcBef>
            </a:pPr>
            <a:r>
              <a:rPr dirty="0" spc="-565"/>
              <a:t>FUTURE</a:t>
            </a:r>
            <a:r>
              <a:rPr dirty="0" spc="-225"/>
              <a:t> </a:t>
            </a:r>
            <a:r>
              <a:rPr dirty="0" spc="-600"/>
              <a:t>ENHANCEMENTS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24074" y="1913312"/>
            <a:ext cx="10741660" cy="2233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97840" marR="5080" indent="-485775">
              <a:lnSpc>
                <a:spcPct val="150900"/>
              </a:lnSpc>
              <a:spcBef>
                <a:spcPts val="100"/>
              </a:spcBef>
              <a:buFont typeface="Arial MT"/>
              <a:buAutoNum type="arabicPeriod"/>
              <a:tabLst>
                <a:tab pos="497840" algn="l"/>
              </a:tabLst>
            </a:pPr>
            <a:r>
              <a:rPr dirty="0" sz="2400" spc="100">
                <a:latin typeface="Cambria"/>
                <a:cs typeface="Cambria"/>
              </a:rPr>
              <a:t>The</a:t>
            </a:r>
            <a:r>
              <a:rPr dirty="0" sz="2400" spc="330">
                <a:latin typeface="Cambria"/>
                <a:cs typeface="Cambria"/>
              </a:rPr>
              <a:t> </a:t>
            </a:r>
            <a:r>
              <a:rPr dirty="0" sz="2400" spc="95">
                <a:latin typeface="Cambria"/>
                <a:cs typeface="Cambria"/>
              </a:rPr>
              <a:t>system</a:t>
            </a:r>
            <a:r>
              <a:rPr dirty="0" sz="2400" spc="365">
                <a:latin typeface="Cambria"/>
                <a:cs typeface="Cambria"/>
              </a:rPr>
              <a:t> </a:t>
            </a:r>
            <a:r>
              <a:rPr dirty="0" sz="2400" spc="165">
                <a:latin typeface="Cambria"/>
                <a:cs typeface="Cambria"/>
              </a:rPr>
              <a:t>can</a:t>
            </a:r>
            <a:r>
              <a:rPr dirty="0" sz="2400" spc="38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be</a:t>
            </a:r>
            <a:r>
              <a:rPr dirty="0" sz="2400" spc="350">
                <a:latin typeface="Cambria"/>
                <a:cs typeface="Cambria"/>
              </a:rPr>
              <a:t> </a:t>
            </a:r>
            <a:r>
              <a:rPr dirty="0" sz="2400" spc="145">
                <a:latin typeface="Cambria"/>
                <a:cs typeface="Cambria"/>
              </a:rPr>
              <a:t>enhanced</a:t>
            </a:r>
            <a:r>
              <a:rPr dirty="0" sz="2400" spc="390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to</a:t>
            </a:r>
            <a:r>
              <a:rPr dirty="0" sz="2400" spc="280">
                <a:latin typeface="Cambria"/>
                <a:cs typeface="Cambria"/>
              </a:rPr>
              <a:t> </a:t>
            </a:r>
            <a:r>
              <a:rPr dirty="0" sz="2400" spc="85">
                <a:latin typeface="Cambria"/>
                <a:cs typeface="Cambria"/>
              </a:rPr>
              <a:t>detect</a:t>
            </a:r>
            <a:r>
              <a:rPr dirty="0" sz="2400" spc="400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fake</a:t>
            </a:r>
            <a:r>
              <a:rPr dirty="0" sz="2400" spc="330">
                <a:latin typeface="Cambria"/>
                <a:cs typeface="Cambria"/>
              </a:rPr>
              <a:t> </a:t>
            </a:r>
            <a:r>
              <a:rPr dirty="0" sz="2400" spc="110">
                <a:latin typeface="Cambria"/>
                <a:cs typeface="Cambria"/>
              </a:rPr>
              <a:t>videos</a:t>
            </a:r>
            <a:r>
              <a:rPr dirty="0" sz="2400" spc="375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by</a:t>
            </a:r>
            <a:r>
              <a:rPr dirty="0" sz="2400" spc="335">
                <a:latin typeface="Cambria"/>
                <a:cs typeface="Cambria"/>
              </a:rPr>
              <a:t> </a:t>
            </a:r>
            <a:r>
              <a:rPr dirty="0" sz="2400" spc="140">
                <a:latin typeface="Cambria"/>
                <a:cs typeface="Cambria"/>
              </a:rPr>
              <a:t>analyzing</a:t>
            </a:r>
            <a:r>
              <a:rPr dirty="0" sz="2400" spc="400">
                <a:latin typeface="Cambria"/>
                <a:cs typeface="Cambria"/>
              </a:rPr>
              <a:t> </a:t>
            </a:r>
            <a:r>
              <a:rPr dirty="0" sz="2400" spc="120">
                <a:latin typeface="Cambria"/>
                <a:cs typeface="Cambria"/>
              </a:rPr>
              <a:t>each video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50">
                <a:latin typeface="Cambria"/>
                <a:cs typeface="Cambria"/>
              </a:rPr>
              <a:t>frame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25">
                <a:latin typeface="Cambria"/>
                <a:cs typeface="Cambria"/>
              </a:rPr>
              <a:t>for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50">
                <a:latin typeface="Cambria"/>
                <a:cs typeface="Cambria"/>
              </a:rPr>
              <a:t>any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signs</a:t>
            </a:r>
            <a:r>
              <a:rPr dirty="0" sz="2400" spc="100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of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35">
                <a:latin typeface="Cambria"/>
                <a:cs typeface="Cambria"/>
              </a:rPr>
              <a:t>manipulation.</a:t>
            </a:r>
            <a:endParaRPr sz="2400">
              <a:latin typeface="Cambria"/>
              <a:cs typeface="Cambria"/>
            </a:endParaRPr>
          </a:p>
          <a:p>
            <a:pPr marL="497840" marR="514350" indent="-485775">
              <a:lnSpc>
                <a:spcPct val="150900"/>
              </a:lnSpc>
              <a:buFont typeface="Arial MT"/>
              <a:buAutoNum type="arabicPeriod"/>
              <a:tabLst>
                <a:tab pos="497840" algn="l"/>
              </a:tabLst>
            </a:pPr>
            <a:r>
              <a:rPr dirty="0" sz="2400" spc="110">
                <a:latin typeface="Cambria"/>
                <a:cs typeface="Cambria"/>
              </a:rPr>
              <a:t>Temporal</a:t>
            </a:r>
            <a:r>
              <a:rPr dirty="0" sz="2400" spc="105">
                <a:latin typeface="Cambria"/>
                <a:cs typeface="Cambria"/>
              </a:rPr>
              <a:t> </a:t>
            </a:r>
            <a:r>
              <a:rPr dirty="0" sz="2400" spc="100">
                <a:latin typeface="Cambria"/>
                <a:cs typeface="Cambria"/>
              </a:rPr>
              <a:t>inconsistencies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50">
                <a:latin typeface="Cambria"/>
                <a:cs typeface="Cambria"/>
              </a:rPr>
              <a:t>in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35">
                <a:latin typeface="Cambria"/>
                <a:cs typeface="Cambria"/>
              </a:rPr>
              <a:t>facial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45">
                <a:latin typeface="Cambria"/>
                <a:cs typeface="Cambria"/>
              </a:rPr>
              <a:t>movements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65">
                <a:latin typeface="Cambria"/>
                <a:cs typeface="Cambria"/>
              </a:rPr>
              <a:t>and</a:t>
            </a:r>
            <a:r>
              <a:rPr dirty="0" sz="2400" spc="110">
                <a:latin typeface="Cambria"/>
                <a:cs typeface="Cambria"/>
              </a:rPr>
              <a:t> expressions </a:t>
            </a:r>
            <a:r>
              <a:rPr dirty="0" sz="2400" spc="140">
                <a:latin typeface="Cambria"/>
                <a:cs typeface="Cambria"/>
              </a:rPr>
              <a:t>can </a:t>
            </a:r>
            <a:r>
              <a:rPr dirty="0" sz="2400" spc="120">
                <a:latin typeface="Cambria"/>
                <a:cs typeface="Cambria"/>
              </a:rPr>
              <a:t>be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30">
                <a:latin typeface="Cambria"/>
                <a:cs typeface="Cambria"/>
              </a:rPr>
              <a:t>monitored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60">
                <a:latin typeface="Cambria"/>
                <a:cs typeface="Cambria"/>
              </a:rPr>
              <a:t>to</a:t>
            </a:r>
            <a:r>
              <a:rPr dirty="0" sz="2400" spc="114">
                <a:latin typeface="Cambria"/>
                <a:cs typeface="Cambria"/>
              </a:rPr>
              <a:t> accurately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114">
                <a:latin typeface="Cambria"/>
                <a:cs typeface="Cambria"/>
              </a:rPr>
              <a:t>identify deepfake</a:t>
            </a:r>
            <a:r>
              <a:rPr dirty="0" sz="2400" spc="110">
                <a:latin typeface="Cambria"/>
                <a:cs typeface="Cambria"/>
              </a:rPr>
              <a:t> </a:t>
            </a:r>
            <a:r>
              <a:rPr dirty="0" sz="2400" spc="90">
                <a:latin typeface="Cambria"/>
                <a:cs typeface="Cambria"/>
              </a:rPr>
              <a:t>videos.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2025-11-27T13:04:10Z</dcterms:created>
  <dcterms:modified xsi:type="dcterms:W3CDTF">2025-11-27T13:04:10Z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2025-11-27T00:00:00Z</vt:filetime>
  </property>
  <property fmtid="{D5CDD505-2E9C-101B-9397-08002B2CF9AE}" pid="3" name="Producer">
    <vt:lpwstr>Skia/PDF m128</vt:lpwstr>
  </property>
  <property fmtid="{D5CDD505-2E9C-101B-9397-08002B2CF9AE}" pid="4" name="LastSaved">
    <vt:filetime>2025-11-27T00:00:00Z</vt:filetime>
  </property>
</Properties>
</file>